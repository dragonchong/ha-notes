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Cover is identity only. Production JIRA is not assigned; TMP-000 is the dossier stand-in. Reference SEM20260612. Tony Chong reviewed the design note.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Writes are not the gap. Middleware cannot call /gcrSpecAckRegister without the packing the screen builds today.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Overloading /gcrSpecAckRegister would keep the staff packing contract. Overloading ECPath5 register would keep a hard-coded user. The convertor has to move or the caller invents a second packing shape.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STAR with no wkbh_location is Failure 4422. Mixed local and send-out is Failure, not ALS. DFT uses the same Spec Ack register() packing.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register() already assumes this packing. Skipping the convertor and porting only the validator still leaves an empty test-group list.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Spec Ack sendOutActions never prints. The ack auto-print flag is not used. Staff picker goes away: print all on the registration path.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Printer and STAR location come from workbench, not copied onto the map. Audit workstation is wkbh_station_name. Still write REG and SEND_OUT. Pilot CPS and HMS; Relabel and Failure bins go back to staff Spec Ack.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staff path is the fallback. Drop only the map table. Workbench and user can stay inactive.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Requester already answered D1-D11. This room is the ratification, not a new design pass.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Likely questions: why not overload /gcrSpecAckRegister; why DFT skips /api/dftreg; why workbench lab is not checked against the test lab.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Volume pass mark is about 20 specimens a minute per lab. Worksheet and PHLC sit after the sorter wait path.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832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10515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8FBA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TMP-000   ·   CHANGE REQUEST   ·   CP3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1508760"/>
            <a:ext cx="859536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40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POST on Specimen Acknowledgement</a:t>
            </a:r>
            <a:endParaRPr lang="en-US" sz="40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40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registers or sends out a USID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685800" y="3429000"/>
            <a:ext cx="749808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8FBA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Sorter middleware calls lis-crs-spec-ack-svc. Flex packing, alerts, and hard checks move behind that call. Staff Spec Ack stays as the fallback.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85800" y="4892040"/>
            <a:ext cx="2532888" cy="868680"/>
          </a:xfrm>
          <a:prstGeom prst="roundRect">
            <a:avLst>
              <a:gd name="adj" fmla="val 4211"/>
            </a:avLst>
          </a:prstGeom>
          <a:solidFill>
            <a:srgbClr val="13525F"/>
          </a:solidFill>
          <a:ln w="12700">
            <a:solidFill>
              <a:srgbClr val="13525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86968" y="5029200"/>
            <a:ext cx="2121408" cy="2194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8FBA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86968" y="5266944"/>
            <a:ext cx="2121408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lis-crs-spec-ack-svc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3493008" y="4892040"/>
            <a:ext cx="2532888" cy="868680"/>
          </a:xfrm>
          <a:prstGeom prst="roundRect">
            <a:avLst>
              <a:gd name="adj" fmla="val 4211"/>
            </a:avLst>
          </a:prstGeom>
          <a:solidFill>
            <a:srgbClr val="13525F"/>
          </a:solidFill>
          <a:ln w="12700">
            <a:solidFill>
              <a:srgbClr val="13525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694176" y="5029200"/>
            <a:ext cx="2121408" cy="2194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8FBA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694176" y="5266944"/>
            <a:ext cx="2121408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 Sep 2026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300216" y="4892040"/>
            <a:ext cx="2532888" cy="868680"/>
          </a:xfrm>
          <a:prstGeom prst="roundRect">
            <a:avLst>
              <a:gd name="adj" fmla="val 4211"/>
            </a:avLst>
          </a:prstGeom>
          <a:solidFill>
            <a:srgbClr val="13525F"/>
          </a:solidFill>
          <a:ln w="12700">
            <a:solidFill>
              <a:srgbClr val="13525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501384" y="5029200"/>
            <a:ext cx="2121408" cy="2194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8FBA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JIRA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6501384" y="5266944"/>
            <a:ext cx="2121408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TMP-000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9107424" y="4892040"/>
            <a:ext cx="2532888" cy="868680"/>
          </a:xfrm>
          <a:prstGeom prst="roundRect">
            <a:avLst>
              <a:gd name="adj" fmla="val 4211"/>
            </a:avLst>
          </a:prstGeom>
          <a:solidFill>
            <a:srgbClr val="13525F"/>
          </a:solidFill>
          <a:ln w="12700">
            <a:solidFill>
              <a:srgbClr val="13525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308592" y="5029200"/>
            <a:ext cx="2121408" cy="2194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8FBA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FORUM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9308592" y="5266944"/>
            <a:ext cx="2121408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CP3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85800" y="5806440"/>
            <a:ext cx="1051560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8FBA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Presenters: Ka   ·   Reviewers: Tony Chong, CP3 panel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85800" y="60807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6E9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Reviewed by Tony Chong  ·  SEM20260612  ·  JIRA not assigned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0405872" y="6144768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8FBA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/ 11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140" kern="0" dirty="0">
                <a:solidFill>
                  <a:srgbClr val="0B6E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BACKGROUND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083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sorter needs the staff click path in one call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3401568" cy="2788920"/>
          </a:xfrm>
          <a:prstGeom prst="roundRect">
            <a:avLst>
              <a:gd name="adj" fmla="val 1311"/>
            </a:avLst>
          </a:prstGeom>
          <a:solidFill>
            <a:srgbClr val="F1F3F3"/>
          </a:solidFill>
          <a:ln w="12700">
            <a:solidFill>
              <a:srgbClr val="F1F3F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2121408"/>
            <a:ext cx="384048" cy="384048"/>
          </a:xfrm>
          <a:prstGeom prst="ellipse">
            <a:avLst/>
          </a:prstGeom>
          <a:solidFill>
            <a:srgbClr val="56676C"/>
          </a:solidFill>
          <a:ln>
            <a:solidFill>
              <a:srgbClr val="56676C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325880" y="2157984"/>
            <a:ext cx="2377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56676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Spec Ack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822960" y="2743200"/>
            <a:ext cx="2852928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083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Staff scan and click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22960" y="3310128"/>
            <a:ext cx="2852928" cy="11064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 scan a USID, then click Send-out or Register.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005072" y="3063240"/>
            <a:ext cx="274320" cy="237744"/>
          </a:xfrm>
          <a:prstGeom prst="rightArrow">
            <a:avLst/>
          </a:prstGeom>
          <a:solidFill>
            <a:srgbClr val="8FBAC3"/>
          </a:solidFill>
          <a:ln w="12700">
            <a:solidFill>
              <a:srgbClr val="8FBAC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334256" y="1828800"/>
            <a:ext cx="3401568" cy="2788920"/>
          </a:xfrm>
          <a:prstGeom prst="roundRect">
            <a:avLst>
              <a:gd name="adj" fmla="val 1311"/>
            </a:avLst>
          </a:prstGeom>
          <a:solidFill>
            <a:srgbClr val="FAEEDB"/>
          </a:solidFill>
          <a:ln w="12700">
            <a:solidFill>
              <a:srgbClr val="FAEED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08576" y="2121408"/>
            <a:ext cx="384048" cy="384048"/>
          </a:xfrm>
          <a:prstGeom prst="ellipse">
            <a:avLst/>
          </a:prstGeom>
          <a:solidFill>
            <a:srgbClr val="9A5C15"/>
          </a:solidFill>
          <a:ln>
            <a:solidFill>
              <a:srgbClr val="9A5C15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111496" y="2157984"/>
            <a:ext cx="2377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9A5C1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three owners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608576" y="2743200"/>
            <a:ext cx="2852928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083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Writes are already in the service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608576" y="3310128"/>
            <a:ext cx="2852928" cy="11064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Lookup and writes live in the Spec Ack service. Packing still sits in Flex.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7790688" y="3063240"/>
            <a:ext cx="274320" cy="237744"/>
          </a:xfrm>
          <a:prstGeom prst="rightArrow">
            <a:avLst/>
          </a:prstGeom>
          <a:solidFill>
            <a:srgbClr val="8FBAC3"/>
          </a:solidFill>
          <a:ln w="12700">
            <a:solidFill>
              <a:srgbClr val="8FBAC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119872" y="1828800"/>
            <a:ext cx="3401568" cy="2788920"/>
          </a:xfrm>
          <a:prstGeom prst="roundRect">
            <a:avLst>
              <a:gd name="adj" fmla="val 1311"/>
            </a:avLst>
          </a:prstGeom>
          <a:solidFill>
            <a:srgbClr val="E4F0F2"/>
          </a:solidFill>
          <a:ln w="12700">
            <a:solidFill>
              <a:srgbClr val="E4F0F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394192" y="2121408"/>
            <a:ext cx="384048" cy="384048"/>
          </a:xfrm>
          <a:prstGeom prst="ellipse">
            <a:avLst/>
          </a:prstGeom>
          <a:solidFill>
            <a:srgbClr val="0B6E7F"/>
          </a:solidFill>
          <a:ln>
            <a:solidFill>
              <a:srgbClr val="0B6E7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8897112" y="2157984"/>
            <a:ext cx="2377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B6E7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this CR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8394192" y="2743200"/>
            <a:ext cx="2852928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083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call, then a bin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8394192" y="3310128"/>
            <a:ext cx="2852928" cy="11064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sorter bins the tube from one LIS response in under four seconds.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548640" y="4983480"/>
            <a:ext cx="11091672" cy="868680"/>
          </a:xfrm>
          <a:prstGeom prst="roundRect">
            <a:avLst>
              <a:gd name="adj" fmla="val 4211"/>
            </a:avLst>
          </a:prstGeom>
          <a:solidFill>
            <a:srgbClr val="FAEEDB"/>
          </a:solidFill>
          <a:ln w="12700">
            <a:solidFill>
              <a:srgbClr val="FAEED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68680" y="5120640"/>
            <a:ext cx="104241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9A5C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not use the staff GET:  </a:t>
            </a:r>
            <a:pPr algn="l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083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/retrieveGcrOrder hard-codes user ltc611. Do not call it.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0405872" y="6144768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11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140" kern="0" dirty="0">
                <a:solidFill>
                  <a:srgbClr val="0B6E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EXISTING DESIGN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083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Packing still lives on the screen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5394960" cy="3063240"/>
          </a:xfrm>
          <a:prstGeom prst="roundRect">
            <a:avLst>
              <a:gd name="adj" fmla="val 1194"/>
            </a:avLst>
          </a:prstGeom>
          <a:solidFill>
            <a:srgbClr val="F7E7E4"/>
          </a:solidFill>
          <a:ln w="12700">
            <a:solidFill>
              <a:srgbClr val="F7E7E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956816"/>
            <a:ext cx="484632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A844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22960" y="2267712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83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Screen owns the contract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822960" y="2816352"/>
            <a:ext cx="484632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0832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promptAlert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0832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GcrSpecAckDataValidator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0832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GcrSpecAckDataConvertor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822960" y="3858768"/>
            <a:ext cx="4846320" cy="7589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Staff click send-out or register with that packing</a:t>
            </a:r>
            <a:endParaRPr lang="en-US" sz="13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Workbench comes from the PC login</a:t>
            </a:r>
            <a:endParaRPr lang="en-US" sz="13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GET retrieve hard-codes ltc611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245352" y="1737360"/>
            <a:ext cx="5394960" cy="3063240"/>
          </a:xfrm>
          <a:prstGeom prst="roundRect">
            <a:avLst>
              <a:gd name="adj" fmla="val 1194"/>
            </a:avLst>
          </a:prstGeom>
          <a:solidFill>
            <a:srgbClr val="E4F0F2"/>
          </a:solidFill>
          <a:ln w="12700">
            <a:solidFill>
              <a:srgbClr val="E4F0F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519672" y="1956816"/>
            <a:ext cx="484632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0B6E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PROPOSED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6519672" y="2267712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83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new POST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6519672" y="2816352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0832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 /api/specack/sorter/auto-register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6519672" y="3419856"/>
            <a:ext cx="4846320" cy="11978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Convertor, validator, and ALS alerts run on the server</a:t>
            </a:r>
            <a:endParaRPr lang="en-US" sz="13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Reuse retrieve, sendOutSpecimen, register, worksheet, PHLC</a:t>
            </a:r>
            <a:endParaRPr lang="en-US" sz="13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Staff APIs stay as they are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48640" y="4983480"/>
            <a:ext cx="11091672" cy="868680"/>
          </a:xfrm>
          <a:prstGeom prst="roundRect">
            <a:avLst>
              <a:gd name="adj" fmla="val 4211"/>
            </a:avLst>
          </a:prstGeom>
          <a:solidFill>
            <a:srgbClr val="FAEEDB"/>
          </a:solidFill>
          <a:ln w="12700">
            <a:solidFill>
              <a:srgbClr val="FAEED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68680" y="5120640"/>
            <a:ext cx="104241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083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not overload /gcrSpecAckRegister or the ECPath5 register. Both keep the wrong caller contract.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0405872" y="6144768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11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140" kern="0" dirty="0">
                <a:solidFill>
                  <a:srgbClr val="0B6E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PROPOSED CHANGE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083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new POST orchestrates retrieve, convert, then write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2057400"/>
            <a:ext cx="2240280" cy="1051560"/>
          </a:xfrm>
          <a:prstGeom prst="roundRect">
            <a:avLst>
              <a:gd name="adj" fmla="val 3478"/>
            </a:avLst>
          </a:prstGeom>
          <a:solidFill>
            <a:srgbClr val="F1F3F3"/>
          </a:solidFill>
          <a:ln w="12700">
            <a:solidFill>
              <a:srgbClr val="8FBAC3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83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auto-register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083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USID + sorterId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2880360" y="2441448"/>
            <a:ext cx="292608" cy="256032"/>
          </a:xfrm>
          <a:prstGeom prst="rightArrow">
            <a:avLst/>
          </a:prstGeom>
          <a:solidFill>
            <a:srgbClr val="8FBAC3"/>
          </a:solidFill>
          <a:ln w="12700">
            <a:solidFill>
              <a:srgbClr val="8FBAC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273552" y="1901952"/>
            <a:ext cx="2880360" cy="1371600"/>
          </a:xfrm>
          <a:prstGeom prst="hexagon">
            <a:avLst/>
          </a:prstGeom>
          <a:solidFill>
            <a:srgbClr val="E4F0F2"/>
          </a:solidFill>
          <a:ln w="12700">
            <a:solidFill>
              <a:srgbClr val="0B6E7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832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Map, retrieve,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0832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CPS/HMS, not mixed?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85716" y="3364992"/>
            <a:ext cx="256032" cy="384048"/>
          </a:xfrm>
          <a:prstGeom prst="downArrow">
            <a:avLst/>
          </a:prstGeom>
          <a:solidFill>
            <a:srgbClr val="56676C"/>
          </a:solidFill>
          <a:ln w="12700">
            <a:solidFill>
              <a:srgbClr val="56676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892040" y="3429000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245352" y="2441448"/>
            <a:ext cx="292608" cy="256032"/>
          </a:xfrm>
          <a:prstGeom prst="rightArrow">
            <a:avLst/>
          </a:prstGeom>
          <a:solidFill>
            <a:srgbClr val="8FBAC3"/>
          </a:solidFill>
          <a:ln w="12700">
            <a:solidFill>
              <a:srgbClr val="8FBAC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144768" y="2075688"/>
            <a:ext cx="50292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0B6E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638544" y="1901952"/>
            <a:ext cx="2606040" cy="1371600"/>
          </a:xfrm>
          <a:prstGeom prst="hexagon">
            <a:avLst/>
          </a:prstGeom>
          <a:solidFill>
            <a:srgbClr val="E4F0F2"/>
          </a:solidFill>
          <a:ln w="12700">
            <a:solidFill>
              <a:srgbClr val="0B6E7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832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Relabel rules?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7813548" y="3364992"/>
            <a:ext cx="256032" cy="384048"/>
          </a:xfrm>
          <a:prstGeom prst="downArrow">
            <a:avLst/>
          </a:prstGeom>
          <a:solidFill>
            <a:srgbClr val="56676C"/>
          </a:solidFill>
          <a:ln w="12700">
            <a:solidFill>
              <a:srgbClr val="56676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119872" y="3429000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9336024" y="2441448"/>
            <a:ext cx="292608" cy="256032"/>
          </a:xfrm>
          <a:prstGeom prst="rightArrow">
            <a:avLst/>
          </a:prstGeom>
          <a:solidFill>
            <a:srgbClr val="C87F22"/>
          </a:solidFill>
          <a:ln w="12700">
            <a:solidFill>
              <a:srgbClr val="C87F2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244584" y="2075688"/>
            <a:ext cx="50292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9A5C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9656064" y="2057400"/>
            <a:ext cx="1984248" cy="1051560"/>
          </a:xfrm>
          <a:prstGeom prst="roundRect">
            <a:avLst>
              <a:gd name="adj" fmla="val 3478"/>
            </a:avLst>
          </a:prstGeom>
          <a:solidFill>
            <a:srgbClr val="9A5C15"/>
          </a:solidFill>
          <a:ln w="12700">
            <a:solidFill>
              <a:srgbClr val="9A5C15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SEND_OUT if all tests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LOE_SENDOUT_TEST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else REGISTERED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3273552" y="3822192"/>
            <a:ext cx="2880360" cy="914400"/>
          </a:xfrm>
          <a:prstGeom prst="roundRect">
            <a:avLst>
              <a:gd name="adj" fmla="val 4000"/>
            </a:avLst>
          </a:prstGeom>
          <a:solidFill>
            <a:srgbClr val="F1F3F3"/>
          </a:solidFill>
          <a:ln w="12700">
            <a:solidFill>
              <a:srgbClr val="8FBAC3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83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FAILURE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083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Unknown sorter, APS/BBS/MBS, mixed tests, STAR 4422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638544" y="3822192"/>
            <a:ext cx="2606040" cy="914400"/>
          </a:xfrm>
          <a:prstGeom prst="roundRect">
            <a:avLst>
              <a:gd name="adj" fmla="val 4000"/>
            </a:avLst>
          </a:prstGeom>
          <a:solidFill>
            <a:srgbClr val="F1F3F3"/>
          </a:solidFill>
          <a:ln w="12700">
            <a:solidFill>
              <a:srgbClr val="8FBAC3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83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RELABEL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083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lab-request write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48640" y="5193792"/>
            <a:ext cx="11091672" cy="914400"/>
          </a:xfrm>
          <a:prstGeom prst="roundRect">
            <a:avLst>
              <a:gd name="adj" fmla="val 4000"/>
            </a:avLst>
          </a:prstGeom>
          <a:solidFill>
            <a:srgbClr val="08323B"/>
          </a:solidFill>
          <a:ln w="12700">
            <a:solidFill>
              <a:srgbClr val="08323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68680" y="5321808"/>
            <a:ext cx="3200400" cy="2377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8FBA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ON THIS PATH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868680" y="5596128"/>
            <a:ext cx="7635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DFT -&gt; Spec Ack register(), not /api/dftreg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8549640" y="5614416"/>
            <a:ext cx="27889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8FBA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not compare workbench lab to the retrieved test lab. Print only after REGISTERED.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10405872" y="6144768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11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140" kern="0" dirty="0">
                <a:solidFill>
                  <a:srgbClr val="0B6E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PROPOSED CHANGE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083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Flex convertor moves behind the API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5532120" cy="3200400"/>
          </a:xfrm>
          <a:prstGeom prst="roundRect">
            <a:avLst>
              <a:gd name="adj" fmla="val 1143"/>
            </a:avLst>
          </a:prstGeom>
          <a:solidFill>
            <a:srgbClr val="08323B"/>
          </a:solidFill>
          <a:ln w="12700">
            <a:solidFill>
              <a:srgbClr val="08323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8745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FBAC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GcrSpecAckDataConvertor.as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22960" y="2286000"/>
            <a:ext cx="4983480" cy="20299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C87F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convertRequestTestGroupDataFromGcrTest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C87F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convertRequestTestGroupDataToParam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convertRequestNoDataToParam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convertWardDataToParam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convertDoctorDataToParam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7F9AA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convertUserInputDataToParam</a:t>
            </a:r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7F9AA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// defaults, not screen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22960" y="4315968"/>
            <a:ext cx="498348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8FBA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Grouping, USID as request no., and ward/doctor mapping must exist before register().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446520" y="1819656"/>
            <a:ext cx="274320" cy="274320"/>
          </a:xfrm>
          <a:prstGeom prst="ellipse">
            <a:avLst/>
          </a:prstGeom>
          <a:solidFill>
            <a:srgbClr val="0B6E7F"/>
          </a:solidFill>
          <a:ln>
            <a:solidFill>
              <a:srgbClr val="0B6E7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903720" y="1783080"/>
            <a:ext cx="4736592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83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Defaults replace checkboxes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903720" y="2130552"/>
            <a:ext cx="4736592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Ack time is server now. AAR off. Urgent workstation off. Labels off. No relabel checkbox.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446520" y="2880360"/>
            <a:ext cx="274320" cy="274320"/>
          </a:xfrm>
          <a:prstGeom prst="ellipse">
            <a:avLst/>
          </a:prstGeom>
          <a:solidFill>
            <a:srgbClr val="0B6E7F"/>
          </a:solidFill>
          <a:ln>
            <a:solidFill>
              <a:srgbClr val="0B6E7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903720" y="2843784"/>
            <a:ext cx="4736592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83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register() already expects this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903720" y="3191256"/>
            <a:ext cx="4736592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Porting only the validator still leaves an empty test-group list.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6446520" y="3941064"/>
            <a:ext cx="274320" cy="274320"/>
          </a:xfrm>
          <a:prstGeom prst="ellipse">
            <a:avLst/>
          </a:prstGeom>
          <a:solidFill>
            <a:srgbClr val="0B6E7F"/>
          </a:solidFill>
          <a:ln>
            <a:solidFill>
              <a:srgbClr val="0B6E7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903720" y="3904488"/>
            <a:ext cx="4736592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83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 builders stay with print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6903720" y="4251960"/>
            <a:ext cx="4736592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Worksheet, send-out form, and SH Ro are built here, printed only after Registered.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0405872" y="6144768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11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140" kern="0" dirty="0">
                <a:solidFill>
                  <a:srgbClr val="0B6E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PROPOSED CHANGE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083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Print only after Registered</a:t>
            </a:r>
            <a:endParaRPr lang="en-US" sz="30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83080"/>
          <a:ext cx="11091672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5029200"/>
                <a:gridCol w="3867912"/>
              </a:tblGrid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Outcome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323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Write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323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Print / PHLC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323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8323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REGISTERED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832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Converted packing via register()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B6E7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 worksheets + PHLC after return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8323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SEND_OUT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832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sendOutSpecimen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9A5C1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ED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8323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RELABEL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832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lab request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56676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8323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FAILURE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832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SORT_FAIL audit only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56676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48640" y="4434840"/>
            <a:ext cx="5440680" cy="1417320"/>
          </a:xfrm>
          <a:prstGeom prst="roundRect">
            <a:avLst>
              <a:gd name="adj" fmla="val 2581"/>
            </a:avLst>
          </a:prstGeom>
          <a:solidFill>
            <a:srgbClr val="FAEEDB"/>
          </a:solidFill>
          <a:ln w="12700">
            <a:solidFill>
              <a:srgbClr val="FAEEDB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822960" y="4590288"/>
            <a:ext cx="4937760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083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Late print is allowed</a:t>
            </a:r>
            <a:endParaRPr lang="en-US" sz="1700" dirty="0"/>
          </a:p>
        </p:txBody>
      </p:sp>
      <p:sp>
        <p:nvSpPr>
          <p:cNvPr id="7" name="Text 4"/>
          <p:cNvSpPr/>
          <p:nvPr/>
        </p:nvSpPr>
        <p:spPr>
          <a:xfrm>
            <a:off x="822960" y="4956048"/>
            <a:ext cx="493776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late worksheet does not change a REGISTERED status already returned.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6199632" y="4434840"/>
            <a:ext cx="5440680" cy="1417320"/>
          </a:xfrm>
          <a:prstGeom prst="roundRect">
            <a:avLst>
              <a:gd name="adj" fmla="val 2581"/>
            </a:avLst>
          </a:prstGeom>
          <a:solidFill>
            <a:srgbClr val="E4F0F2"/>
          </a:solidFill>
          <a:ln w="12700">
            <a:solidFill>
              <a:srgbClr val="E4F0F2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473952" y="4590288"/>
            <a:ext cx="4937760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083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Print all, no picker</a:t>
            </a:r>
            <a:endParaRPr lang="en-US" sz="1700" dirty="0"/>
          </a:p>
        </p:txBody>
      </p:sp>
      <p:sp>
        <p:nvSpPr>
          <p:cNvPr id="10" name="Text 7"/>
          <p:cNvSpPr/>
          <p:nvPr/>
        </p:nvSpPr>
        <p:spPr>
          <a:xfrm>
            <a:off x="6473952" y="4956048"/>
            <a:ext cx="493776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 worksheet picker is gone. Every Ro from the convertor prints.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10405872" y="6144768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11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140" kern="0" dirty="0">
                <a:solidFill>
                  <a:srgbClr val="0B6E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PROMOTION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083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Seed user, workbench, and map, then deploy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5417820" cy="1975104"/>
          </a:xfrm>
          <a:prstGeom prst="roundRect">
            <a:avLst>
              <a:gd name="adj" fmla="val 1852"/>
            </a:avLst>
          </a:prstGeom>
          <a:solidFill>
            <a:srgbClr val="E4F0F2"/>
          </a:solidFill>
          <a:ln w="12700">
            <a:solidFill>
              <a:srgbClr val="E4F0F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993392"/>
            <a:ext cx="384048" cy="384048"/>
          </a:xfrm>
          <a:prstGeom prst="ellipse">
            <a:avLst/>
          </a:prstGeom>
          <a:solidFill>
            <a:srgbClr val="0B6E7F"/>
          </a:solidFill>
          <a:ln>
            <a:solidFill>
              <a:srgbClr val="0B6E7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22960" y="2560320"/>
            <a:ext cx="48691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083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Create the sorter user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822960" y="3090672"/>
            <a:ext cx="486918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Dedicated LIS user on LOE_AUDIT_TRAIL. Not ltc611.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222492" y="1737360"/>
            <a:ext cx="5417820" cy="1975104"/>
          </a:xfrm>
          <a:prstGeom prst="roundRect">
            <a:avLst>
              <a:gd name="adj" fmla="val 1852"/>
            </a:avLst>
          </a:prstGeom>
          <a:solidFill>
            <a:srgbClr val="F1F3F3"/>
          </a:solidFill>
          <a:ln w="12700">
            <a:solidFill>
              <a:srgbClr val="F1F3F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96812" y="1993392"/>
            <a:ext cx="384048" cy="384048"/>
          </a:xfrm>
          <a:prstGeom prst="ellipse">
            <a:avLst/>
          </a:prstGeom>
          <a:solidFill>
            <a:srgbClr val="56676C"/>
          </a:solidFill>
          <a:ln>
            <a:solidFill>
              <a:srgbClr val="56676C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496812" y="2560320"/>
            <a:ext cx="48691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083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Seed a workbench row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6496812" y="3090672"/>
            <a:ext cx="486918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row per sorter: hosp, lab, station name, location, printer.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3968496"/>
            <a:ext cx="5417820" cy="1975104"/>
          </a:xfrm>
          <a:prstGeom prst="roundRect">
            <a:avLst>
              <a:gd name="adj" fmla="val 1852"/>
            </a:avLst>
          </a:prstGeom>
          <a:solidFill>
            <a:srgbClr val="F1F3F3"/>
          </a:solidFill>
          <a:ln w="12700">
            <a:solidFill>
              <a:srgbClr val="F1F3F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" y="4224528"/>
            <a:ext cx="384048" cy="384048"/>
          </a:xfrm>
          <a:prstGeom prst="ellipse">
            <a:avLst/>
          </a:prstGeom>
          <a:solidFill>
            <a:srgbClr val="56676C"/>
          </a:solidFill>
          <a:ln>
            <a:solidFill>
              <a:srgbClr val="56676C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822960" y="4791456"/>
            <a:ext cx="48691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083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Insert the map row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822960" y="5321808"/>
            <a:ext cx="486918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Sorter id, user, workbench id, lab, hosp, server name on loe_sorter_map.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222492" y="3968496"/>
            <a:ext cx="5417820" cy="1975104"/>
          </a:xfrm>
          <a:prstGeom prst="roundRect">
            <a:avLst>
              <a:gd name="adj" fmla="val 1852"/>
            </a:avLst>
          </a:prstGeom>
          <a:solidFill>
            <a:srgbClr val="FAEEDB"/>
          </a:solidFill>
          <a:ln w="12700">
            <a:solidFill>
              <a:srgbClr val="FAEED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96812" y="4224528"/>
            <a:ext cx="384048" cy="384048"/>
          </a:xfrm>
          <a:prstGeom prst="ellipse">
            <a:avLst/>
          </a:prstGeom>
          <a:solidFill>
            <a:srgbClr val="9A5C15"/>
          </a:solidFill>
          <a:ln>
            <a:solidFill>
              <a:srgbClr val="9A5C15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496812" y="4791456"/>
            <a:ext cx="48691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083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Deploy and open the path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6496812" y="5321808"/>
            <a:ext cx="486918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 lis-crs-spec-ack-svc. NetworkPolicy only. Add SORT_* to the Audit Trail filter.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0405872" y="6144768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11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140" kern="0" dirty="0">
                <a:solidFill>
                  <a:srgbClr val="0B6E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FALLBACK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083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Stop middleware. Staff Spec Ack is unchanged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3526536" cy="3108960"/>
          </a:xfrm>
          <a:prstGeom prst="roundRect">
            <a:avLst>
              <a:gd name="adj" fmla="val 1176"/>
            </a:avLst>
          </a:prstGeom>
          <a:solidFill>
            <a:srgbClr val="F7E7E4"/>
          </a:solidFill>
          <a:ln w="12700">
            <a:solidFill>
              <a:srgbClr val="F7E7E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993392"/>
            <a:ext cx="384048" cy="384048"/>
          </a:xfrm>
          <a:prstGeom prst="ellipse">
            <a:avLst/>
          </a:prstGeom>
          <a:solidFill>
            <a:srgbClr val="A8443A"/>
          </a:solidFill>
          <a:ln>
            <a:solidFill>
              <a:srgbClr val="A8443A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22960" y="2560320"/>
            <a:ext cx="2977896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083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Stop middleware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822960" y="3090672"/>
            <a:ext cx="2977896" cy="15727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 clicks still retrieve, send-out, and register. The staff APIs are untouched.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331208" y="1737360"/>
            <a:ext cx="3526536" cy="3108960"/>
          </a:xfrm>
          <a:prstGeom prst="roundRect">
            <a:avLst>
              <a:gd name="adj" fmla="val 1176"/>
            </a:avLst>
          </a:prstGeom>
          <a:solidFill>
            <a:srgbClr val="FAEEDB"/>
          </a:solidFill>
          <a:ln w="12700">
            <a:solidFill>
              <a:srgbClr val="FAEED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605528" y="1993392"/>
            <a:ext cx="384048" cy="384048"/>
          </a:xfrm>
          <a:prstGeom prst="ellipse">
            <a:avLst/>
          </a:prstGeom>
          <a:solidFill>
            <a:srgbClr val="9A5C15"/>
          </a:solidFill>
          <a:ln>
            <a:solidFill>
              <a:srgbClr val="9A5C15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605528" y="2560320"/>
            <a:ext cx="2977896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083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Drop the map table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4605528" y="3090672"/>
            <a:ext cx="2977896" cy="15727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 TABLE loe_sorter_map on full rollback. Leave or disable the workbench and user.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113776" y="1737360"/>
            <a:ext cx="3526536" cy="3108960"/>
          </a:xfrm>
          <a:prstGeom prst="roundRect">
            <a:avLst>
              <a:gd name="adj" fmla="val 1176"/>
            </a:avLst>
          </a:prstGeom>
          <a:solidFill>
            <a:srgbClr val="08323B"/>
          </a:solidFill>
          <a:ln w="12700">
            <a:solidFill>
              <a:srgbClr val="08323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388096" y="1993392"/>
            <a:ext cx="384048" cy="384048"/>
          </a:xfrm>
          <a:prstGeom prst="ellipse">
            <a:avLst/>
          </a:prstGeom>
          <a:solidFill>
            <a:srgbClr val="0B6E7F"/>
          </a:solidFill>
          <a:ln>
            <a:solidFill>
              <a:srgbClr val="0B6E7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8388096" y="2560320"/>
            <a:ext cx="2977896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history rewrite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8388096" y="3090672"/>
            <a:ext cx="2977896" cy="15727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8FBA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not convert historical requests. Fallback is operational, not a data rewrite.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0405872" y="6144768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11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140" kern="0" dirty="0">
                <a:solidFill>
                  <a:srgbClr val="0B6E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QUESTIONS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083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decisions to ratify before build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755648"/>
            <a:ext cx="384048" cy="384048"/>
          </a:xfrm>
          <a:prstGeom prst="ellipse">
            <a:avLst/>
          </a:prstGeom>
          <a:solidFill>
            <a:srgbClr val="0B6E7F"/>
          </a:solidFill>
          <a:ln>
            <a:solidFill>
              <a:srgbClr val="0B6E7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1188720" y="1737360"/>
            <a:ext cx="10058400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83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Leave v1 with NetworkPolicy only, no API key or Hub JWT?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188720" y="2066544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isolation as Spec Ack today (D1).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48640" y="2560320"/>
            <a:ext cx="384048" cy="384048"/>
          </a:xfrm>
          <a:prstGeom prst="ellipse">
            <a:avLst/>
          </a:prstGeom>
          <a:solidFill>
            <a:srgbClr val="0B6E7F"/>
          </a:solidFill>
          <a:ln>
            <a:solidFill>
              <a:srgbClr val="0B6E7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188720" y="2542032"/>
            <a:ext cx="10058400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83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Fail the tube when the USID has both local and send-out tests?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188720" y="2871216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 Spec Ack only warns (D3).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48640" y="3364992"/>
            <a:ext cx="384048" cy="384048"/>
          </a:xfrm>
          <a:prstGeom prst="ellipse">
            <a:avLst/>
          </a:prstGeom>
          <a:solidFill>
            <a:srgbClr val="0B6E7F"/>
          </a:solidFill>
          <a:ln>
            <a:solidFill>
              <a:srgbClr val="0B6E7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88720" y="3346704"/>
            <a:ext cx="10058400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83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Print worksheets and PHLC only after Registered, after HTTP return?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188720" y="367588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Send-out prints nothing (D11, D4, D5).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48640" y="4169664"/>
            <a:ext cx="384048" cy="384048"/>
          </a:xfrm>
          <a:prstGeom prst="ellipse">
            <a:avLst/>
          </a:prstGeom>
          <a:solidFill>
            <a:srgbClr val="0B6E7F"/>
          </a:solidFill>
          <a:ln>
            <a:solidFill>
              <a:srgbClr val="0B6E7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188720" y="4151376"/>
            <a:ext cx="10058400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83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Show SORT_* actions on the Audit Trail filter?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188720" y="448056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Still write REG and SEND_OUT (D6).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48640" y="5029200"/>
            <a:ext cx="11091672" cy="777240"/>
          </a:xfrm>
          <a:prstGeom prst="roundRect">
            <a:avLst>
              <a:gd name="adj" fmla="val 4706"/>
            </a:avLst>
          </a:prstGeom>
          <a:solidFill>
            <a:srgbClr val="FAEEDB"/>
          </a:solidFill>
          <a:ln w="12700">
            <a:solidFill>
              <a:srgbClr val="FAEED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68680" y="5166360"/>
            <a:ext cx="10424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083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Requester already answered D1-D11. This room ratifies.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0405872" y="6144768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11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832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2377440"/>
            <a:ext cx="10954512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8FBA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DISCUSSION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2743200"/>
            <a:ext cx="10954512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40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Q&amp;A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10405872" y="6144768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8FBA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11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832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7772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8FBA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85800" y="109728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Target latency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85800" y="1691640"/>
            <a:ext cx="548640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200" dirty="0">
                <a:solidFill>
                  <a:srgbClr val="C87F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P95 &lt; 4 S</a:t>
            </a:r>
            <a:endParaRPr lang="en-US" sz="6200" dirty="0"/>
          </a:p>
        </p:txBody>
      </p:sp>
      <p:sp>
        <p:nvSpPr>
          <p:cNvPr id="5" name="Text 3"/>
          <p:cNvSpPr/>
          <p:nvPr/>
        </p:nvSpPr>
        <p:spPr>
          <a:xfrm>
            <a:off x="685800" y="2834640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8FBA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20 specimens a minute per lab in v1. Worksheet and PHLC sit after the sorter wait path.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1234440"/>
            <a:ext cx="5239512" cy="1143000"/>
          </a:xfrm>
          <a:prstGeom prst="roundRect">
            <a:avLst>
              <a:gd name="adj" fmla="val 3200"/>
            </a:avLst>
          </a:prstGeom>
          <a:solidFill>
            <a:srgbClr val="13525F"/>
          </a:solidFill>
          <a:ln w="12700">
            <a:solidFill>
              <a:srgbClr val="13525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675120" y="1609344"/>
            <a:ext cx="384048" cy="384048"/>
          </a:xfrm>
          <a:prstGeom prst="ellipse">
            <a:avLst/>
          </a:prstGeom>
          <a:solidFill>
            <a:srgbClr val="0B6E7F"/>
          </a:solidFill>
          <a:ln>
            <a:solidFill>
              <a:srgbClr val="0B6E7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7223760" y="1435608"/>
            <a:ext cx="4206240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Assign a production JIRA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223760" y="1764792"/>
            <a:ext cx="42062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8FBA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Replace TMP-000. Reference remains SEM20260612.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400800" y="2606040"/>
            <a:ext cx="5239512" cy="1143000"/>
          </a:xfrm>
          <a:prstGeom prst="roundRect">
            <a:avLst>
              <a:gd name="adj" fmla="val 3200"/>
            </a:avLst>
          </a:prstGeom>
          <a:solidFill>
            <a:srgbClr val="13525F"/>
          </a:solidFill>
          <a:ln w="12700">
            <a:solidFill>
              <a:srgbClr val="13525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675120" y="2980944"/>
            <a:ext cx="384048" cy="384048"/>
          </a:xfrm>
          <a:prstGeom prst="ellipse">
            <a:avLst/>
          </a:prstGeom>
          <a:solidFill>
            <a:srgbClr val="0B6E7F"/>
          </a:solidFill>
          <a:ln>
            <a:solidFill>
              <a:srgbClr val="0B6E7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7223760" y="2807208"/>
            <a:ext cx="4206240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 the POST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7223760" y="3136392"/>
            <a:ext cx="42062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8FBA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orchestrator on lis-crs-spec-ack-svc, including the packing convertor.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400800" y="3977640"/>
            <a:ext cx="5239512" cy="1143000"/>
          </a:xfrm>
          <a:prstGeom prst="roundRect">
            <a:avLst>
              <a:gd name="adj" fmla="val 3200"/>
            </a:avLst>
          </a:prstGeom>
          <a:solidFill>
            <a:srgbClr val="13525F"/>
          </a:solidFill>
          <a:ln w="12700">
            <a:solidFill>
              <a:srgbClr val="13525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675120" y="4352544"/>
            <a:ext cx="384048" cy="384048"/>
          </a:xfrm>
          <a:prstGeom prst="ellipse">
            <a:avLst/>
          </a:prstGeom>
          <a:solidFill>
            <a:srgbClr val="0B6E7F"/>
          </a:solidFill>
          <a:ln>
            <a:solidFill>
              <a:srgbClr val="0B6E7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7223760" y="4178808"/>
            <a:ext cx="4206240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Seed SIT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7223760" y="4507992"/>
            <a:ext cx="42062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8FBA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Sorter user, workbench row, and loe_sorter_map before middleware is pointed at SIT.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85800" y="4224528"/>
            <a:ext cx="5120640" cy="1234440"/>
          </a:xfrm>
          <a:prstGeom prst="roundRect">
            <a:avLst>
              <a:gd name="adj" fmla="val 2963"/>
            </a:avLst>
          </a:prstGeom>
          <a:solidFill>
            <a:srgbClr val="13525F"/>
          </a:solidFill>
          <a:ln w="12700">
            <a:solidFill>
              <a:srgbClr val="13525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60120" y="4407408"/>
            <a:ext cx="45720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TMP-000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960120" y="4800600"/>
            <a:ext cx="457200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8FBA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lis-crs-spec-ack-svc  ·  Change Request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10405872" y="6144768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8FBA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11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Hospital Authority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Specimen Sorter API</dc:title>
  <dc:subject>lis-crs-spec-ack-svc — one POST to auto-register or send out from a USID</dc:subject>
  <dc:creator>LIS Team</dc:creator>
  <cp:lastModifiedBy>LIS Team</cp:lastModifiedBy>
  <cp:revision>1</cp:revision>
  <dcterms:created xsi:type="dcterms:W3CDTF">2026-09-09T08:32:52Z</dcterms:created>
  <dcterms:modified xsi:type="dcterms:W3CDTF">2026-09-09T08:32:52Z</dcterms:modified>
</cp:coreProperties>
</file>