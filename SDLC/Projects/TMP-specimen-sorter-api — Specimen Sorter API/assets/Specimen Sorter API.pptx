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 is identity only. TMP-000 is the dossier stand-in. Tony Chong reviewed the design note.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As-is is the staff click path. To-be is the sorter calling LIS for the same send-out and registration actions. Checks and packing still sit on the screen today.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Amber is what moves. Group tests, request no., and ward/doctor mapping sit on registration, not on worksheet. Worksheet has its own convert, then print.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Hospital, if sent, must match the map and workbench. Unknown sorterId is Failure. Transport errors stay 500.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next slides walk each Spec Ack action. The API calls the same print and PHLC services Spec Ack uses today, in-process, not by looping back over HTTP.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Staff today pick a workbench by PC name or IP. The sorter has no PC login, so the map is the lookup. Printer stays on workbench.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the workbench has no STAR location, that is Failure 4422 later in the checks. The map does not invent a location.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staff retrieve GET stays. The sorter must not call it. CPS and HMS only. DFT and STAR on those labs still retrieve.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Call the list the send-out test table if asked. Mixed is Failure so the sorter does not split one tube.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mixed change out loud. Staff can still click through that popup. The sorter cannot split the tube.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First half of the soft set from the confirmed requirement. Next slide has the rest.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Mixed is not here. The locked design made mixed a hard Failure.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auto-create an unmapped doctor or location. Soft set on the previous two slides is not Failure.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Partial DFT remainder is Relabel. DFT still uses Spec Ack register, not the DFT register API.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Report destination can follow request location when that Spec Ack option is on. Port the existing rule. Do not invent a new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three staff print services, in-process, no HTTP loopback. Registration only.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PHLC is already backend. The change is when it runs. Do not invent a new PHLC contract.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Pilot CPS and HMS. Relabel and Failure bins go back to staff Spec Ack. Add SORT_* to the Audit Trail filter.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staff path is the fallback. Drop only the map table.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Requester already answered D1-D11. This room is the ratification, not a new design pass.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Likely questions: why a new POST; why hospital can be omitted; why DFT uses the same register path.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Volume pass mark is about 20 specimens a minute per lab. Print sits after the sorter wait path.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90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58952" y="2232279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CP3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1181862" y="2346579"/>
            <a:ext cx="301752" cy="10973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02486" y="2232279"/>
            <a:ext cx="997991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11 SEP 2026  ·  CHANGE REQUEST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758952" y="2598039"/>
            <a:ext cx="9098280" cy="554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39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Specimen Sorter API</a:t>
            </a:r>
            <a:endParaRPr lang="en-US" sz="3900" dirty="0"/>
          </a:p>
        </p:txBody>
      </p:sp>
      <p:sp>
        <p:nvSpPr>
          <p:cNvPr id="6" name="Text 4"/>
          <p:cNvSpPr/>
          <p:nvPr/>
        </p:nvSpPr>
        <p:spPr>
          <a:xfrm>
            <a:off x="758952" y="3335655"/>
            <a:ext cx="658368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Today staff scan a label and click Send-out or Register. The sorter will scan the tube and call LIS for those same actions.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58952" y="4195953"/>
            <a:ext cx="16337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758952" y="4406265"/>
            <a:ext cx="16337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lis-crs-spec-ack-svc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648712" y="4195953"/>
            <a:ext cx="10973" cy="38404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904744" y="4195953"/>
            <a:ext cx="9479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DATE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904744" y="4406265"/>
            <a:ext cx="947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 Sep 2026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108704" y="4195953"/>
            <a:ext cx="10973" cy="38404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64736" y="4195953"/>
            <a:ext cx="6431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JIRA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364736" y="4406265"/>
            <a:ext cx="643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TMP-000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263896" y="4195953"/>
            <a:ext cx="10973" cy="38404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519928" y="4195953"/>
            <a:ext cx="82981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PRESENTER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5519928" y="4406265"/>
            <a:ext cx="82981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Ka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605778" y="4195953"/>
            <a:ext cx="10973" cy="38404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61810" y="4195953"/>
            <a:ext cx="9098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PRESENTERS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861810" y="4406265"/>
            <a:ext cx="9098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Ka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027670" y="4195953"/>
            <a:ext cx="10973" cy="38404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283702" y="4195953"/>
            <a:ext cx="17099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REVIEWERS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8283702" y="4406265"/>
            <a:ext cx="1709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Tony Chong, CP3 panel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58952" y="6053328"/>
            <a:ext cx="10515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Design status: draft  ·  for briefing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BACKGROUND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Staff scans and presses today. The sorter will call LIS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401824"/>
            <a:ext cx="5335524" cy="2420112"/>
          </a:xfrm>
          <a:prstGeom prst="roundRect">
            <a:avLst>
              <a:gd name="adj" fmla="val 453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2726436"/>
            <a:ext cx="609219" cy="228600"/>
          </a:xfrm>
          <a:prstGeom prst="roundRect">
            <a:avLst>
              <a:gd name="adj" fmla="val 20000"/>
            </a:avLst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AS-IS</a:t>
            </a:r>
            <a:endParaRPr lang="en-US" sz="975" dirty="0"/>
          </a:p>
        </p:txBody>
      </p:sp>
      <p:sp>
        <p:nvSpPr>
          <p:cNvPr id="6" name="Text 4"/>
          <p:cNvSpPr/>
          <p:nvPr/>
        </p:nvSpPr>
        <p:spPr>
          <a:xfrm>
            <a:off x="1602867" y="2694432"/>
            <a:ext cx="406793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Staff scans and presses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83920" y="3151632"/>
            <a:ext cx="4786884" cy="603504"/>
          </a:xfrm>
          <a:prstGeom prst="roundRect">
            <a:avLst>
              <a:gd name="adj" fmla="val 9091"/>
            </a:avLst>
          </a:prstGeom>
          <a:solidFill>
            <a:srgbClr val="F1F5F9"/>
          </a:solidFill>
          <a:ln w="9525">
            <a:solidFill>
              <a:srgbClr val="F1F5F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11936" y="3261360"/>
            <a:ext cx="45308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25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scan the specimen label</a:t>
            </a:r>
            <a:endParaRPr lang="en-US" sz="1125" dirty="0"/>
          </a:p>
          <a:p>
            <a:pPr algn="l" indent="0" marL="0">
              <a:buNone/>
            </a:pPr>
            <a:r>
              <a:rPr lang="en-US" sz="1125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press Send-out or Register</a:t>
            </a:r>
            <a:endParaRPr lang="en-US" sz="1125" dirty="0"/>
          </a:p>
        </p:txBody>
      </p:sp>
      <p:sp>
        <p:nvSpPr>
          <p:cNvPr id="9" name="Text 7"/>
          <p:cNvSpPr/>
          <p:nvPr/>
        </p:nvSpPr>
        <p:spPr>
          <a:xfrm>
            <a:off x="883920" y="3892296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 Specimen Acknowledgement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83920" y="4219956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tube, one staff action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46876" y="2401824"/>
            <a:ext cx="5335524" cy="2420112"/>
          </a:xfrm>
          <a:prstGeom prst="roundRect">
            <a:avLst>
              <a:gd name="adj" fmla="val 4534"/>
            </a:avLst>
          </a:prstGeom>
          <a:solidFill>
            <a:srgbClr val="FFFFFF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21196" y="2726436"/>
            <a:ext cx="609219" cy="228600"/>
          </a:xfrm>
          <a:prstGeom prst="roundRect">
            <a:avLst>
              <a:gd name="adj" fmla="val 20000"/>
            </a:avLst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TO-BE</a:t>
            </a:r>
            <a:endParaRPr lang="en-US" sz="975" dirty="0"/>
          </a:p>
        </p:txBody>
      </p:sp>
      <p:sp>
        <p:nvSpPr>
          <p:cNvPr id="13" name="Text 11"/>
          <p:cNvSpPr/>
          <p:nvPr/>
        </p:nvSpPr>
        <p:spPr>
          <a:xfrm>
            <a:off x="7240143" y="2694432"/>
            <a:ext cx="406793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Sorter scans, LIS answers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521196" y="3151632"/>
            <a:ext cx="4786884" cy="603504"/>
          </a:xfrm>
          <a:prstGeom prst="roundRect">
            <a:avLst>
              <a:gd name="adj" fmla="val 9091"/>
            </a:avLst>
          </a:prstGeom>
          <a:solidFill>
            <a:srgbClr val="F1F5F9"/>
          </a:solidFill>
          <a:ln w="9525">
            <a:solidFill>
              <a:srgbClr val="F1F5F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649212" y="3261360"/>
            <a:ext cx="45308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25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sorter scans for sort and transport</a:t>
            </a:r>
            <a:endParaRPr lang="en-US" sz="1125" dirty="0"/>
          </a:p>
          <a:p>
            <a:pPr algn="l" indent="0" marL="0">
              <a:buNone/>
            </a:pPr>
            <a:r>
              <a:rPr lang="en-US" sz="1125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LIS API for send-out or register</a:t>
            </a:r>
            <a:endParaRPr lang="en-US" sz="1125" dirty="0"/>
          </a:p>
        </p:txBody>
      </p:sp>
      <p:sp>
        <p:nvSpPr>
          <p:cNvPr id="16" name="Text 14"/>
          <p:cNvSpPr/>
          <p:nvPr/>
        </p:nvSpPr>
        <p:spPr>
          <a:xfrm>
            <a:off x="6521196" y="3892296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call, then a bin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521196" y="4219956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Staff screen stays as fallback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09600" y="5050536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Specimen Acknowledgement remains the fallback when the sorter returns Relabel or Failure.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EXISTING DESIGN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Spec Ack screen still owns validation and packing</a:t>
            </a:r>
            <a:endParaRPr lang="en-US" sz="2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600" y="2514600"/>
          <a:ext cx="10972800" cy="914400"/>
        </p:xfrm>
        <a:graphic>
          <a:graphicData uri="http://schemas.openxmlformats.org/drawingml/2006/table">
            <a:tbl>
              <a:tblPr/>
              <a:tblGrid>
                <a:gridCol w="2442420"/>
                <a:gridCol w="5427601"/>
                <a:gridCol w="3102779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Action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00" marR="1463040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Front-end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00" marR="1463040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Back-end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00" marR="1463040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Retrieve GCRS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00" marR="1463040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Scan Specimen Label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00" marR="1463040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Calls backend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00" marR="1463040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Send-out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00" marR="1463040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Presses Send-out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00" marR="1463040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Calls backend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00" marR="1463040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Registration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00" marR="1463040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B4530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Presses Register Request. Validates. Groups tests, request no., maps ward and doctor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00" marR="1463040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Calls backend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00" marR="1463040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Worksheet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00" marR="1463040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B4530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Converts worksheet data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00" marR="1463040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Calls backend to print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00" marR="1463040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PHLC order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00" marR="1463040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None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00" marR="1463040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Calls backend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00" marR="1463040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09600" y="2514600"/>
            <a:ext cx="10972800" cy="2743200"/>
          </a:xfrm>
          <a:prstGeom prst="roundRect">
            <a:avLst>
              <a:gd name="adj" fmla="val 4000"/>
            </a:avLst>
          </a:prstGeom>
          <a:solidFill>
            <a:srgbClr val="FFFFFF">
              <a:alpha val="0"/>
            </a:srgbClr>
          </a:solidFill>
          <a:ln w="9525">
            <a:solidFill>
              <a:srgbClr val="E2E8F0"/>
            </a:solidFill>
            <a:prstDash val="solid"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PROPOSED CHANGE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One new POST on the Spec Ack service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567178"/>
            <a:ext cx="5870448" cy="2290572"/>
          </a:xfrm>
          <a:prstGeom prst="roundRect">
            <a:avLst>
              <a:gd name="adj" fmla="val 4790"/>
            </a:avLst>
          </a:prstGeom>
          <a:solidFill>
            <a:srgbClr val="0F172A"/>
          </a:solidFill>
          <a:ln w="9525">
            <a:solidFill>
              <a:srgbClr val="1E293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7344" y="2786634"/>
            <a:ext cx="4754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7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/api/sorter/auto-register</a:t>
            </a:r>
            <a:endParaRPr lang="en-US" sz="975" dirty="0"/>
          </a:p>
        </p:txBody>
      </p:sp>
      <p:sp>
        <p:nvSpPr>
          <p:cNvPr id="6" name="Text 4"/>
          <p:cNvSpPr/>
          <p:nvPr/>
        </p:nvSpPr>
        <p:spPr>
          <a:xfrm>
            <a:off x="847344" y="3079242"/>
            <a:ext cx="5394960" cy="15956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"usid": "QHSP2500000012",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"sorterId": "KTH-SORTER-01",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"hospital": "QEH",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"hkid": null,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"patientName": null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25" dirty="0"/>
          </a:p>
        </p:txBody>
      </p:sp>
      <p:sp>
        <p:nvSpPr>
          <p:cNvPr id="7" name="Text 5"/>
          <p:cNvSpPr/>
          <p:nvPr/>
        </p:nvSpPr>
        <p:spPr>
          <a:xfrm>
            <a:off x="609600" y="4967478"/>
            <a:ext cx="5870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usid and sorterId are required. hospital may be omitted when the map has it.</a:t>
            </a:r>
            <a:endParaRPr lang="en-US" sz="1125" dirty="0"/>
          </a:p>
        </p:txBody>
      </p:sp>
      <p:sp>
        <p:nvSpPr>
          <p:cNvPr id="8" name="Shape 6"/>
          <p:cNvSpPr/>
          <p:nvPr/>
        </p:nvSpPr>
        <p:spPr>
          <a:xfrm>
            <a:off x="6781800" y="2318004"/>
            <a:ext cx="4800600" cy="1056132"/>
          </a:xfrm>
          <a:prstGeom prst="roundRect">
            <a:avLst>
              <a:gd name="adj" fmla="val 1039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982968" y="2542032"/>
            <a:ext cx="228600" cy="228600"/>
          </a:xfrm>
          <a:prstGeom prst="ellipse">
            <a:avLst/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!</a:t>
            </a:r>
            <a:endParaRPr lang="en-US" sz="975" dirty="0"/>
          </a:p>
        </p:txBody>
      </p:sp>
      <p:sp>
        <p:nvSpPr>
          <p:cNvPr id="10" name="Text 8"/>
          <p:cNvSpPr/>
          <p:nvPr/>
        </p:nvSpPr>
        <p:spPr>
          <a:xfrm>
            <a:off x="7312152" y="2519172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75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Same-call status</a:t>
            </a:r>
            <a:endParaRPr lang="en-US" sz="1275" dirty="0"/>
          </a:p>
        </p:txBody>
      </p:sp>
      <p:sp>
        <p:nvSpPr>
          <p:cNvPr id="11" name="Text 9"/>
          <p:cNvSpPr/>
          <p:nvPr/>
        </p:nvSpPr>
        <p:spPr>
          <a:xfrm>
            <a:off x="6982968" y="2811780"/>
            <a:ext cx="4398264" cy="4160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REGISTERED, SEND_OUT, RELABEL, or FAILURE. Soft alerts stay off the body.</a:t>
            </a:r>
            <a:endParaRPr lang="en-US" sz="1125" dirty="0"/>
          </a:p>
        </p:txBody>
      </p:sp>
      <p:sp>
        <p:nvSpPr>
          <p:cNvPr id="12" name="Shape 10"/>
          <p:cNvSpPr/>
          <p:nvPr/>
        </p:nvSpPr>
        <p:spPr>
          <a:xfrm>
            <a:off x="6781800" y="3529584"/>
            <a:ext cx="4800600" cy="884682"/>
          </a:xfrm>
          <a:prstGeom prst="roundRect">
            <a:avLst>
              <a:gd name="adj" fmla="val 1240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982968" y="3753612"/>
            <a:ext cx="228600" cy="228600"/>
          </a:xfrm>
          <a:prstGeom prst="ellipse">
            <a:avLst/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!</a:t>
            </a:r>
            <a:endParaRPr lang="en-US" sz="975" dirty="0"/>
          </a:p>
        </p:txBody>
      </p:sp>
      <p:sp>
        <p:nvSpPr>
          <p:cNvPr id="14" name="Text 12"/>
          <p:cNvSpPr/>
          <p:nvPr/>
        </p:nvSpPr>
        <p:spPr>
          <a:xfrm>
            <a:off x="7312152" y="3730752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75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Optional identity</a:t>
            </a:r>
            <a:endParaRPr lang="en-US" sz="1275" dirty="0"/>
          </a:p>
        </p:txBody>
      </p:sp>
      <p:sp>
        <p:nvSpPr>
          <p:cNvPr id="15" name="Text 13"/>
          <p:cNvSpPr/>
          <p:nvPr/>
        </p:nvSpPr>
        <p:spPr>
          <a:xfrm>
            <a:off x="6982968" y="4023360"/>
            <a:ext cx="4398264" cy="244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hkid and patientName. If sent and they mismatch, Failure.</a:t>
            </a:r>
            <a:endParaRPr lang="en-US" sz="1125" dirty="0"/>
          </a:p>
        </p:txBody>
      </p:sp>
      <p:sp>
        <p:nvSpPr>
          <p:cNvPr id="16" name="Shape 14"/>
          <p:cNvSpPr/>
          <p:nvPr/>
        </p:nvSpPr>
        <p:spPr>
          <a:xfrm>
            <a:off x="6781800" y="4569714"/>
            <a:ext cx="4800600" cy="884682"/>
          </a:xfrm>
          <a:prstGeom prst="roundRect">
            <a:avLst>
              <a:gd name="adj" fmla="val 1240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982968" y="4793742"/>
            <a:ext cx="228600" cy="228600"/>
          </a:xfrm>
          <a:prstGeom prst="ellipse">
            <a:avLst/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!</a:t>
            </a:r>
            <a:endParaRPr lang="en-US" sz="975" dirty="0"/>
          </a:p>
        </p:txBody>
      </p:sp>
      <p:sp>
        <p:nvSpPr>
          <p:cNvPr id="18" name="Text 16"/>
          <p:cNvSpPr/>
          <p:nvPr/>
        </p:nvSpPr>
        <p:spPr>
          <a:xfrm>
            <a:off x="7312152" y="4770882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75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New path, not an overload</a:t>
            </a:r>
            <a:endParaRPr lang="en-US" sz="1275" dirty="0"/>
          </a:p>
        </p:txBody>
      </p:sp>
      <p:sp>
        <p:nvSpPr>
          <p:cNvPr id="19" name="Text 17"/>
          <p:cNvSpPr/>
          <p:nvPr/>
        </p:nvSpPr>
        <p:spPr>
          <a:xfrm>
            <a:off x="6982968" y="5063490"/>
            <a:ext cx="4398264" cy="244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 not reuse the staff register call. No auth header in v1.</a:t>
            </a:r>
            <a:endParaRPr lang="en-US" sz="1125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PROPOSED CHANGE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Screen logic moves behind that POST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305812"/>
            <a:ext cx="5335524" cy="2612136"/>
          </a:xfrm>
          <a:prstGeom prst="roundRect">
            <a:avLst>
              <a:gd name="adj" fmla="val 420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2630424"/>
            <a:ext cx="609219" cy="228600"/>
          </a:xfrm>
          <a:prstGeom prst="roundRect">
            <a:avLst>
              <a:gd name="adj" fmla="val 20000"/>
            </a:avLst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TODAY</a:t>
            </a:r>
            <a:endParaRPr lang="en-US" sz="975" dirty="0"/>
          </a:p>
        </p:txBody>
      </p:sp>
      <p:sp>
        <p:nvSpPr>
          <p:cNvPr id="6" name="Text 4"/>
          <p:cNvSpPr/>
          <p:nvPr/>
        </p:nvSpPr>
        <p:spPr>
          <a:xfrm>
            <a:off x="1602867" y="2598420"/>
            <a:ext cx="406793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 the screen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83920" y="3055620"/>
            <a:ext cx="4786884" cy="795528"/>
          </a:xfrm>
          <a:prstGeom prst="roundRect">
            <a:avLst>
              <a:gd name="adj" fmla="val 6897"/>
            </a:avLst>
          </a:prstGeom>
          <a:solidFill>
            <a:srgbClr val="F1F5F9"/>
          </a:solidFill>
          <a:ln w="9525">
            <a:solidFill>
              <a:srgbClr val="F1F5F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11936" y="3165348"/>
            <a:ext cx="4530852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25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validate, then convert</a:t>
            </a:r>
            <a:endParaRPr lang="en-US" sz="1125" dirty="0"/>
          </a:p>
          <a:p>
            <a:pPr algn="l" indent="0" marL="0">
              <a:buNone/>
            </a:pPr>
            <a:r>
              <a:rPr lang="en-US" sz="1125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group tests, request no.</a:t>
            </a:r>
            <a:endParaRPr lang="en-US" sz="1125" dirty="0"/>
          </a:p>
          <a:p>
            <a:pPr algn="l" indent="0" marL="0">
              <a:buNone/>
            </a:pPr>
            <a:r>
              <a:rPr lang="en-US" sz="1125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map ward and doctor</a:t>
            </a:r>
            <a:endParaRPr lang="en-US" sz="1125" dirty="0"/>
          </a:p>
        </p:txBody>
      </p:sp>
      <p:sp>
        <p:nvSpPr>
          <p:cNvPr id="9" name="Text 7"/>
          <p:cNvSpPr/>
          <p:nvPr/>
        </p:nvSpPr>
        <p:spPr>
          <a:xfrm>
            <a:off x="883920" y="3988308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Worksheet convert also runs here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83920" y="4315968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Then the screen calls register or print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46876" y="2305812"/>
            <a:ext cx="5335524" cy="2612136"/>
          </a:xfrm>
          <a:prstGeom prst="roundRect">
            <a:avLst>
              <a:gd name="adj" fmla="val 4201"/>
            </a:avLst>
          </a:prstGeom>
          <a:solidFill>
            <a:srgbClr val="FFFFFF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21196" y="2630424"/>
            <a:ext cx="832104" cy="228600"/>
          </a:xfrm>
          <a:prstGeom prst="roundRect">
            <a:avLst>
              <a:gd name="adj" fmla="val 20000"/>
            </a:avLst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PROPOSED</a:t>
            </a:r>
            <a:endParaRPr lang="en-US" sz="975" dirty="0"/>
          </a:p>
        </p:txBody>
      </p:sp>
      <p:sp>
        <p:nvSpPr>
          <p:cNvPr id="13" name="Text 11"/>
          <p:cNvSpPr/>
          <p:nvPr/>
        </p:nvSpPr>
        <p:spPr>
          <a:xfrm>
            <a:off x="7463028" y="2598420"/>
            <a:ext cx="38450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 the new API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521196" y="3055620"/>
            <a:ext cx="4786884" cy="603504"/>
          </a:xfrm>
          <a:prstGeom prst="roundRect">
            <a:avLst>
              <a:gd name="adj" fmla="val 9091"/>
            </a:avLst>
          </a:prstGeom>
          <a:solidFill>
            <a:srgbClr val="F1F5F9"/>
          </a:solidFill>
          <a:ln w="9525">
            <a:solidFill>
              <a:srgbClr val="F1F5F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649212" y="3165348"/>
            <a:ext cx="45308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25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same checks and packing</a:t>
            </a:r>
            <a:endParaRPr lang="en-US" sz="1125" dirty="0"/>
          </a:p>
          <a:p>
            <a:pPr algn="l" indent="0" marL="0">
              <a:buNone/>
            </a:pPr>
            <a:r>
              <a:rPr lang="en-US" sz="1125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then existing backend writes</a:t>
            </a:r>
            <a:endParaRPr lang="en-US" sz="1125" dirty="0"/>
          </a:p>
        </p:txBody>
      </p:sp>
      <p:sp>
        <p:nvSpPr>
          <p:cNvPr id="16" name="Text 14"/>
          <p:cNvSpPr/>
          <p:nvPr/>
        </p:nvSpPr>
        <p:spPr>
          <a:xfrm>
            <a:off x="6521196" y="379628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Reuse register, worksheet print, and PHLC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521196" y="412394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Print and PHLC only after Registered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09600" y="514654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Send-out, Relabel, and Failure print nothing. A late worksheet does not change a status already returned.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PROPOSED CHANGE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Sorter id maps to a dedicated user and a workbench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351342"/>
            <a:ext cx="3505200" cy="2521077"/>
          </a:xfrm>
          <a:prstGeom prst="roundRect">
            <a:avLst>
              <a:gd name="adj" fmla="val 435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2671382"/>
            <a:ext cx="310896" cy="310896"/>
          </a:xfrm>
          <a:prstGeom prst="ellipse">
            <a:avLst/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125" dirty="0"/>
          </a:p>
        </p:txBody>
      </p:sp>
      <p:sp>
        <p:nvSpPr>
          <p:cNvPr id="6" name="Text 4"/>
          <p:cNvSpPr/>
          <p:nvPr/>
        </p:nvSpPr>
        <p:spPr>
          <a:xfrm>
            <a:off x="883920" y="3110294"/>
            <a:ext cx="2956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LOE_SPECIMEN_SORTER_MAP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883920" y="3384613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map row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83920" y="3695129"/>
            <a:ext cx="2956560" cy="10126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Sorter id to LIS user and workbench id. Also hosp, lab, and server name so LAB_DB can open.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4343400" y="2351342"/>
            <a:ext cx="3505200" cy="2521077"/>
          </a:xfrm>
          <a:prstGeom prst="roundRect">
            <a:avLst>
              <a:gd name="adj" fmla="val 435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17720" y="2671382"/>
            <a:ext cx="310896" cy="310896"/>
          </a:xfrm>
          <a:prstGeom prst="ellipse">
            <a:avLst/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125" dirty="0"/>
          </a:p>
        </p:txBody>
      </p:sp>
      <p:sp>
        <p:nvSpPr>
          <p:cNvPr id="11" name="Text 9"/>
          <p:cNvSpPr/>
          <p:nvPr/>
        </p:nvSpPr>
        <p:spPr>
          <a:xfrm>
            <a:off x="4617720" y="3110294"/>
            <a:ext cx="2956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WORKBENCH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617720" y="3384613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workbench row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617720" y="3695129"/>
            <a:ext cx="2956560" cy="10126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Hospital, lab, station name, STAR location, and default printer. Not copied as a second source of truth on the map.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8077200" y="2351342"/>
            <a:ext cx="3505200" cy="2521077"/>
          </a:xfrm>
          <a:prstGeom prst="roundRect">
            <a:avLst>
              <a:gd name="adj" fmla="val 435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351520" y="2671382"/>
            <a:ext cx="310896" cy="310896"/>
          </a:xfrm>
          <a:prstGeom prst="ellipse">
            <a:avLst/>
          </a:prstGeom>
          <a:solidFill>
            <a:srgbClr val="FEF3C7"/>
          </a:solidFill>
          <a:ln>
            <a:solidFill>
              <a:srgbClr val="FEF3C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B4530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125" dirty="0"/>
          </a:p>
        </p:txBody>
      </p:sp>
      <p:sp>
        <p:nvSpPr>
          <p:cNvPr id="16" name="Text 14"/>
          <p:cNvSpPr/>
          <p:nvPr/>
        </p:nvSpPr>
        <p:spPr>
          <a:xfrm>
            <a:off x="8351520" y="3110294"/>
            <a:ext cx="2956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B4530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LOE_AUDIT_TRAIL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8351520" y="3384613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Audit user and station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351520" y="3695129"/>
            <a:ext cx="2956560" cy="10126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Audit user is the map user. Workstation is the workbench station name. Write SORT_* plus REG and SEND_OUT.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609600" y="5101019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Unknown sorter id is Failure. Do not compare workbench lab to the retrieved test lab.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PROPOSED CHANGE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User and workbench come from the sorter id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322576"/>
            <a:ext cx="5335524" cy="2578608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2647188"/>
            <a:ext cx="609219" cy="228600"/>
          </a:xfrm>
          <a:prstGeom prst="roundRect">
            <a:avLst>
              <a:gd name="adj" fmla="val 20000"/>
            </a:avLst>
          </a:prstGeom>
          <a:solidFill>
            <a:srgbClr val="F1F5F9"/>
          </a:solidFill>
          <a:ln>
            <a:solidFill>
              <a:srgbClr val="F1F5F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TODAY</a:t>
            </a:r>
            <a:endParaRPr lang="en-US" sz="975" dirty="0"/>
          </a:p>
        </p:txBody>
      </p:sp>
      <p:sp>
        <p:nvSpPr>
          <p:cNvPr id="6" name="Text 4"/>
          <p:cNvSpPr/>
          <p:nvPr/>
        </p:nvSpPr>
        <p:spPr>
          <a:xfrm>
            <a:off x="1602867" y="2615184"/>
            <a:ext cx="406793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Staff login, then a PC workbench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83920" y="307238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User is the staff LIS login.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83920" y="340004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Workbench is selected by PC name or IP.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83920" y="372770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Staff retrieve GET uses a hard-coded demo user.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46876" y="2322576"/>
            <a:ext cx="5335524" cy="2578608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21196" y="2647188"/>
            <a:ext cx="1054989" cy="228600"/>
          </a:xfrm>
          <a:prstGeom prst="roundRect">
            <a:avLst>
              <a:gd name="adj" fmla="val 20000"/>
            </a:avLst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SORTER POST</a:t>
            </a:r>
            <a:endParaRPr lang="en-US" sz="975" dirty="0"/>
          </a:p>
        </p:txBody>
      </p:sp>
      <p:sp>
        <p:nvSpPr>
          <p:cNvPr id="12" name="Text 10"/>
          <p:cNvSpPr/>
          <p:nvPr/>
        </p:nvSpPr>
        <p:spPr>
          <a:xfrm>
            <a:off x="7685913" y="2615184"/>
            <a:ext cx="36221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sorterId looks up the map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21196" y="3072384"/>
            <a:ext cx="4786884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Dedicated sorter LIS user from the map. Never the demo retrieve user.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521196" y="3590544"/>
            <a:ext cx="4786884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Workbench id from the same map row, then hosp, lab, station, location, printer.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521196" y="4108704"/>
            <a:ext cx="4786884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Hospital omitted: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 map / workbench hosp. Hospital sent must match.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09600" y="5129784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map row per physical sorter. Seed the user, the workbench, and the map before SIT.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PROPOSED CHANGE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Retrieve GCRS - sorter lookup is USID only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417826"/>
            <a:ext cx="5335524" cy="2388108"/>
          </a:xfrm>
          <a:prstGeom prst="roundRect">
            <a:avLst>
              <a:gd name="adj" fmla="val 459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2742438"/>
            <a:ext cx="683514" cy="228600"/>
          </a:xfrm>
          <a:prstGeom prst="roundRect">
            <a:avLst>
              <a:gd name="adj" fmla="val 20000"/>
            </a:avLst>
          </a:prstGeom>
          <a:solidFill>
            <a:srgbClr val="F1F5F9"/>
          </a:solidFill>
          <a:ln>
            <a:solidFill>
              <a:srgbClr val="F1F5F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MANUAL</a:t>
            </a:r>
            <a:endParaRPr lang="en-US" sz="975" dirty="0"/>
          </a:p>
        </p:txBody>
      </p:sp>
      <p:sp>
        <p:nvSpPr>
          <p:cNvPr id="6" name="Text 4"/>
          <p:cNvSpPr/>
          <p:nvPr/>
        </p:nvSpPr>
        <p:spPr>
          <a:xfrm>
            <a:off x="1677162" y="2710434"/>
            <a:ext cx="399364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Scan or type, then retrieve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83920" y="316763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Staff enter specimen no., lab no., or order no.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83920" y="349529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Format, allowed hospital, and check digit run first.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83920" y="382295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 found stops the screen (1336 / 1337 / 1338 / 1377).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46876" y="2417826"/>
            <a:ext cx="5335524" cy="2388108"/>
          </a:xfrm>
          <a:prstGeom prst="roundRect">
            <a:avLst>
              <a:gd name="adj" fmla="val 4595"/>
            </a:avLst>
          </a:prstGeom>
          <a:solidFill>
            <a:srgbClr val="FFFFFF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21196" y="2742438"/>
            <a:ext cx="1054989" cy="228600"/>
          </a:xfrm>
          <a:prstGeom prst="roundRect">
            <a:avLst>
              <a:gd name="adj" fmla="val 20000"/>
            </a:avLst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SORTER POST</a:t>
            </a:r>
            <a:endParaRPr lang="en-US" sz="975" dirty="0"/>
          </a:p>
        </p:txBody>
      </p:sp>
      <p:sp>
        <p:nvSpPr>
          <p:cNvPr id="12" name="Text 10"/>
          <p:cNvSpPr/>
          <p:nvPr/>
        </p:nvSpPr>
        <p:spPr>
          <a:xfrm>
            <a:off x="7685913" y="2710434"/>
            <a:ext cx="36221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USID, as the mapped user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21196" y="316763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Body needs usid and sorterId. No order-no lookup.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521196" y="3495294"/>
            <a:ext cx="4786884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Same format rules. Miss is Failure. Wrong HKID or name is Failure.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521196" y="4013454"/>
            <a:ext cx="4786884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In-process retrieve as the sorter user. APS / BBS / MBS is Failure.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09600" y="5034534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Hospital omitted on the POST comes from the sorter map and workbench.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PROPOSED CHANGE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Send-out - the list decides, not a click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417826"/>
            <a:ext cx="5335524" cy="2388108"/>
          </a:xfrm>
          <a:prstGeom prst="roundRect">
            <a:avLst>
              <a:gd name="adj" fmla="val 459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2742438"/>
            <a:ext cx="683514" cy="228600"/>
          </a:xfrm>
          <a:prstGeom prst="roundRect">
            <a:avLst>
              <a:gd name="adj" fmla="val 20000"/>
            </a:avLst>
          </a:prstGeom>
          <a:solidFill>
            <a:srgbClr val="F1F5F9"/>
          </a:solidFill>
          <a:ln>
            <a:solidFill>
              <a:srgbClr val="F1F5F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MANUAL</a:t>
            </a:r>
            <a:endParaRPr lang="en-US" sz="975" dirty="0"/>
          </a:p>
        </p:txBody>
      </p:sp>
      <p:sp>
        <p:nvSpPr>
          <p:cNvPr id="6" name="Text 4"/>
          <p:cNvSpPr/>
          <p:nvPr/>
        </p:nvSpPr>
        <p:spPr>
          <a:xfrm>
            <a:off x="1677162" y="2710434"/>
            <a:ext cx="399364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Staff press Send-out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83920" y="316763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Staff choose Send-out after the order is on screen.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83920" y="3495294"/>
            <a:ext cx="4786884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Backend acks Printed or Collected, writes tracking, writes SEND_OUT.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83920" y="4013454"/>
            <a:ext cx="4786884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test is send-out when its cluster code is on the list for that lab and hospital.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46876" y="2417826"/>
            <a:ext cx="5335524" cy="2388108"/>
          </a:xfrm>
          <a:prstGeom prst="roundRect">
            <a:avLst>
              <a:gd name="adj" fmla="val 4595"/>
            </a:avLst>
          </a:prstGeom>
          <a:solidFill>
            <a:srgbClr val="FFFFFF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21196" y="2742438"/>
            <a:ext cx="1054989" cy="228600"/>
          </a:xfrm>
          <a:prstGeom prst="roundRect">
            <a:avLst>
              <a:gd name="adj" fmla="val 20000"/>
            </a:avLst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SORTER POST</a:t>
            </a:r>
            <a:endParaRPr lang="en-US" sz="975" dirty="0"/>
          </a:p>
        </p:txBody>
      </p:sp>
      <p:sp>
        <p:nvSpPr>
          <p:cNvPr id="12" name="Text 10"/>
          <p:cNvSpPr/>
          <p:nvPr/>
        </p:nvSpPr>
        <p:spPr>
          <a:xfrm>
            <a:off x="7685913" y="2710434"/>
            <a:ext cx="36221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Same list. No flag from the sorter.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21196" y="316763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Join the test to the send-out list for lab and hospital.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521196" y="349529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All on the list: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existing send-out write, status SEND_OUT.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521196" y="3822954"/>
            <a:ext cx="4786884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Local plus send-out on one USID: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Failure. No worksheet. No PHLC.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09600" y="5034534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sorter does not send a send-out flag.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PROPOSED CHANGE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Registration checks - soft logs, hard fails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513076"/>
            <a:ext cx="5335524" cy="2197608"/>
          </a:xfrm>
          <a:prstGeom prst="roundRect">
            <a:avLst>
              <a:gd name="adj" fmla="val 499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2837688"/>
            <a:ext cx="683514" cy="228600"/>
          </a:xfrm>
          <a:prstGeom prst="roundRect">
            <a:avLst>
              <a:gd name="adj" fmla="val 20000"/>
            </a:avLst>
          </a:prstGeom>
          <a:solidFill>
            <a:srgbClr val="F1F5F9"/>
          </a:solidFill>
          <a:ln>
            <a:solidFill>
              <a:srgbClr val="F1F5F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MANUAL</a:t>
            </a:r>
            <a:endParaRPr lang="en-US" sz="975" dirty="0"/>
          </a:p>
        </p:txBody>
      </p:sp>
      <p:sp>
        <p:nvSpPr>
          <p:cNvPr id="6" name="Text 4"/>
          <p:cNvSpPr/>
          <p:nvPr/>
        </p:nvSpPr>
        <p:spPr>
          <a:xfrm>
            <a:off x="1677162" y="2805684"/>
            <a:ext cx="399364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Popups on the screen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83920" y="326288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Soft alerts after retrieve. Staff can continue.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83920" y="3590544"/>
            <a:ext cx="4786884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 checks before Register: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mapping, datetime, test, specimen state.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83920" y="410870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Mixed local and send-out is a soft alert today.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46876" y="2513076"/>
            <a:ext cx="5335524" cy="2197608"/>
          </a:xfrm>
          <a:prstGeom prst="roundRect">
            <a:avLst>
              <a:gd name="adj" fmla="val 4993"/>
            </a:avLst>
          </a:prstGeom>
          <a:solidFill>
            <a:srgbClr val="FFFFFF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21196" y="2837688"/>
            <a:ext cx="1054989" cy="228600"/>
          </a:xfrm>
          <a:prstGeom prst="roundRect">
            <a:avLst>
              <a:gd name="adj" fmla="val 20000"/>
            </a:avLst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SORTER POST</a:t>
            </a:r>
            <a:endParaRPr lang="en-US" sz="975" dirty="0"/>
          </a:p>
        </p:txBody>
      </p:sp>
      <p:sp>
        <p:nvSpPr>
          <p:cNvPr id="12" name="Text 10"/>
          <p:cNvSpPr/>
          <p:nvPr/>
        </p:nvSpPr>
        <p:spPr>
          <a:xfrm>
            <a:off x="7685913" y="2805684"/>
            <a:ext cx="36221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 dialogue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21196" y="326288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Soft: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ALS only. Not on the body. Not Relabel.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521196" y="359054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HTTP 200 and FAILURE, code on the audit remark.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521196" y="3918204"/>
            <a:ext cx="4786884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Mixed is Failure. No Relabel checkbox. STAR with no location is 4422.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09600" y="4939284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Ack time is server now. Missing collection date is soft. Do not invent a date.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PROPOSED CHANGE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Soft alerts - logged, then continue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977134"/>
            <a:ext cx="3505200" cy="1818132"/>
          </a:xfrm>
          <a:prstGeom prst="roundRect">
            <a:avLst>
              <a:gd name="adj" fmla="val 603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3297174"/>
            <a:ext cx="310896" cy="310896"/>
          </a:xfrm>
          <a:prstGeom prst="ellipse">
            <a:avLst/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125" dirty="0"/>
          </a:p>
        </p:txBody>
      </p:sp>
      <p:sp>
        <p:nvSpPr>
          <p:cNvPr id="6" name="Text 4"/>
          <p:cNvSpPr/>
          <p:nvPr/>
        </p:nvSpPr>
        <p:spPr>
          <a:xfrm>
            <a:off x="883920" y="3736086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Missing collection date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83920" y="4046601"/>
            <a:ext cx="2956560" cy="5840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Proceed. Do not invent a date.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343400" y="2977134"/>
            <a:ext cx="3505200" cy="1818132"/>
          </a:xfrm>
          <a:prstGeom prst="roundRect">
            <a:avLst>
              <a:gd name="adj" fmla="val 603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17720" y="3297174"/>
            <a:ext cx="310896" cy="310896"/>
          </a:xfrm>
          <a:prstGeom prst="ellipse">
            <a:avLst/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125" dirty="0"/>
          </a:p>
        </p:txBody>
      </p:sp>
      <p:sp>
        <p:nvSpPr>
          <p:cNvPr id="10" name="Text 8"/>
          <p:cNvSpPr/>
          <p:nvPr/>
        </p:nvSpPr>
        <p:spPr>
          <a:xfrm>
            <a:off x="4617720" y="3736086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Overnight specimen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617720" y="4046601"/>
            <a:ext cx="2956560" cy="5840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Same overnight window as Spec Ack. ALS only.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8077200" y="2977134"/>
            <a:ext cx="3505200" cy="1818132"/>
          </a:xfrm>
          <a:prstGeom prst="roundRect">
            <a:avLst>
              <a:gd name="adj" fmla="val 603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51520" y="3297174"/>
            <a:ext cx="310896" cy="310896"/>
          </a:xfrm>
          <a:prstGeom prst="ellipse">
            <a:avLst/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125" dirty="0"/>
          </a:p>
        </p:txBody>
      </p:sp>
      <p:sp>
        <p:nvSpPr>
          <p:cNvPr id="14" name="Text 12"/>
          <p:cNvSpPr/>
          <p:nvPr/>
        </p:nvSpPr>
        <p:spPr>
          <a:xfrm>
            <a:off x="8351520" y="3736086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Valid period / sex-age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351520" y="4046601"/>
            <a:ext cx="2956560" cy="5840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 validity and valid-period warnings. ALS only.</a:t>
            </a:r>
            <a:endParaRPr lang="en-US" sz="13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PROPOSED CHANGE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Soft alerts - the rest of the set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595658"/>
            <a:ext cx="3505200" cy="2032444"/>
          </a:xfrm>
          <a:prstGeom prst="roundRect">
            <a:avLst>
              <a:gd name="adj" fmla="val 539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2915698"/>
            <a:ext cx="310896" cy="310896"/>
          </a:xfrm>
          <a:prstGeom prst="ellipse">
            <a:avLst/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125" dirty="0"/>
          </a:p>
        </p:txBody>
      </p:sp>
      <p:sp>
        <p:nvSpPr>
          <p:cNvPr id="6" name="Text 4"/>
          <p:cNvSpPr/>
          <p:nvPr/>
        </p:nvSpPr>
        <p:spPr>
          <a:xfrm>
            <a:off x="883920" y="3354610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Duplicate / A-A-R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83920" y="3665125"/>
            <a:ext cx="2956560" cy="7983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Duplicate-reason and A-A-R-not-ready. ALS only. AAR stays off.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343400" y="2595658"/>
            <a:ext cx="3505200" cy="2032444"/>
          </a:xfrm>
          <a:prstGeom prst="roundRect">
            <a:avLst>
              <a:gd name="adj" fmla="val 539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17720" y="2915698"/>
            <a:ext cx="310896" cy="310896"/>
          </a:xfrm>
          <a:prstGeom prst="ellipse">
            <a:avLst/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1125" dirty="0"/>
          </a:p>
        </p:txBody>
      </p:sp>
      <p:sp>
        <p:nvSpPr>
          <p:cNvPr id="10" name="Text 8"/>
          <p:cNvSpPr/>
          <p:nvPr/>
        </p:nvSpPr>
        <p:spPr>
          <a:xfrm>
            <a:off x="4617720" y="3354610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Patient tag / private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617720" y="3665125"/>
            <a:ext cx="2956560" cy="7983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Private patient and patient-tag alerts. ALS only.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8077200" y="2595658"/>
            <a:ext cx="3505200" cy="2032444"/>
          </a:xfrm>
          <a:prstGeom prst="roundRect">
            <a:avLst>
              <a:gd name="adj" fmla="val 539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51520" y="2915698"/>
            <a:ext cx="310896" cy="310896"/>
          </a:xfrm>
          <a:prstGeom prst="ellipse">
            <a:avLst/>
          </a:prstGeom>
          <a:solidFill>
            <a:srgbClr val="FEF3C7"/>
          </a:solidFill>
          <a:ln>
            <a:solidFill>
              <a:srgbClr val="FEF3C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B4530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1125" dirty="0"/>
          </a:p>
        </p:txBody>
      </p:sp>
      <p:sp>
        <p:nvSpPr>
          <p:cNvPr id="14" name="Text 12"/>
          <p:cNvSpPr/>
          <p:nvPr/>
        </p:nvSpPr>
        <p:spPr>
          <a:xfrm>
            <a:off x="8351520" y="3354610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STAR unbox alert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351520" y="3665125"/>
            <a:ext cx="2956560" cy="7983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Boxed warning is ALS. No workbench location is Failure 4422, not this card.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09600" y="4856702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BBS blood / category / T&amp;S alerts stay on staff Spec Ack. BBS is out of v1.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PROPOSED CHANGE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Hard checks that return Failure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458498"/>
            <a:ext cx="3505200" cy="2306765"/>
          </a:xfrm>
          <a:prstGeom prst="roundRect">
            <a:avLst>
              <a:gd name="adj" fmla="val 475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2778538"/>
            <a:ext cx="310896" cy="310896"/>
          </a:xfrm>
          <a:prstGeom prst="ellipse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125" dirty="0"/>
          </a:p>
        </p:txBody>
      </p:sp>
      <p:sp>
        <p:nvSpPr>
          <p:cNvPr id="6" name="Text 4"/>
          <p:cNvSpPr/>
          <p:nvPr/>
        </p:nvSpPr>
        <p:spPr>
          <a:xfrm>
            <a:off x="883920" y="3217450"/>
            <a:ext cx="2956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B91C1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1162-1170, 1090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883920" y="3491770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Unmapped ward / doctor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83920" y="3802285"/>
            <a:ext cx="2956560" cy="7983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Doctor, location, specialty, report dest, or report copy has no LIS id.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4343400" y="2458498"/>
            <a:ext cx="3505200" cy="2306765"/>
          </a:xfrm>
          <a:prstGeom prst="roundRect">
            <a:avLst>
              <a:gd name="adj" fmla="val 475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17720" y="2778538"/>
            <a:ext cx="310896" cy="310896"/>
          </a:xfrm>
          <a:prstGeom prst="ellipse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125" dirty="0"/>
          </a:p>
        </p:txBody>
      </p:sp>
      <p:sp>
        <p:nvSpPr>
          <p:cNvPr id="11" name="Text 9"/>
          <p:cNvSpPr/>
          <p:nvPr/>
        </p:nvSpPr>
        <p:spPr>
          <a:xfrm>
            <a:off x="4617720" y="3217450"/>
            <a:ext cx="2956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B91C1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R12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617720" y="3491770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Datetime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617720" y="3802285"/>
            <a:ext cx="2956560" cy="7983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Collection before DOB. Ack before collection or request. Ack in the future.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8077200" y="2458498"/>
            <a:ext cx="3505200" cy="2306765"/>
          </a:xfrm>
          <a:prstGeom prst="roundRect">
            <a:avLst>
              <a:gd name="adj" fmla="val 475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351520" y="2778538"/>
            <a:ext cx="310896" cy="310896"/>
          </a:xfrm>
          <a:prstGeom prst="ellipse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125" dirty="0"/>
          </a:p>
        </p:txBody>
      </p:sp>
      <p:sp>
        <p:nvSpPr>
          <p:cNvPr id="16" name="Text 14"/>
          <p:cNvSpPr/>
          <p:nvPr/>
        </p:nvSpPr>
        <p:spPr>
          <a:xfrm>
            <a:off x="8351520" y="3217450"/>
            <a:ext cx="2956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B91C1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4422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8351520" y="3491770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STAR / mixed / empty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351520" y="3802285"/>
            <a:ext cx="2956560" cy="7983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workbench location. Local plus send-out. Already used, all registered, all deleted, rejected.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609600" y="4993862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Also Failure: missing test dictionary, HKID or name mismatch, APS / BBS / MBS, unknown sorter id.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PROPOSED CHANGE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Request test grouping and request no.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322576"/>
            <a:ext cx="5335524" cy="2578608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2647188"/>
            <a:ext cx="683514" cy="228600"/>
          </a:xfrm>
          <a:prstGeom prst="roundRect">
            <a:avLst>
              <a:gd name="adj" fmla="val 20000"/>
            </a:avLst>
          </a:prstGeom>
          <a:solidFill>
            <a:srgbClr val="F1F5F9"/>
          </a:solidFill>
          <a:ln>
            <a:solidFill>
              <a:srgbClr val="F1F5F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MANUAL</a:t>
            </a:r>
            <a:endParaRPr lang="en-US" sz="975" dirty="0"/>
          </a:p>
        </p:txBody>
      </p:sp>
      <p:sp>
        <p:nvSpPr>
          <p:cNvPr id="6" name="Text 4"/>
          <p:cNvSpPr/>
          <p:nvPr/>
        </p:nvSpPr>
        <p:spPr>
          <a:xfrm>
            <a:off x="1677162" y="2615184"/>
            <a:ext cx="399364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Screen groups, then assigns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83920" y="3072384"/>
            <a:ext cx="4786884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Tests are grouped before Register. Each group needs a request no.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83920" y="3590544"/>
            <a:ext cx="4786884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USID can be the request no. when the screen says it is eligible.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83920" y="4108704"/>
            <a:ext cx="4786884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Staff can tick Relabel. Multi-group, multi-specimen, suffix not 0, or force: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USID.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46876" y="2322576"/>
            <a:ext cx="5335524" cy="2578608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21196" y="2647188"/>
            <a:ext cx="1054989" cy="228600"/>
          </a:xfrm>
          <a:prstGeom prst="roundRect">
            <a:avLst>
              <a:gd name="adj" fmla="val 20000"/>
            </a:avLst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SORTER POST</a:t>
            </a:r>
            <a:endParaRPr lang="en-US" sz="975" dirty="0"/>
          </a:p>
        </p:txBody>
      </p:sp>
      <p:sp>
        <p:nvSpPr>
          <p:cNvPr id="12" name="Text 10"/>
          <p:cNvSpPr/>
          <p:nvPr/>
        </p:nvSpPr>
        <p:spPr>
          <a:xfrm>
            <a:off x="7685913" y="2615184"/>
            <a:ext cx="36221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Same grouping. No checkbox.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21196" y="307238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Same Relabel rules, without a user tick.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521196" y="3400044"/>
            <a:ext cx="4786884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group, one specimen, suffix 0, not force: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request no. = USID.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521196" y="3918204"/>
            <a:ext cx="4786884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Else Relabel. No lab request. No invented number. No caller-assigned request no.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09600" y="5129784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Relabel is its own status. Not Failure. Not Registered.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PROPOSED CHANGE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Ward and doctor mapping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513076"/>
            <a:ext cx="5335524" cy="2197608"/>
          </a:xfrm>
          <a:prstGeom prst="roundRect">
            <a:avLst>
              <a:gd name="adj" fmla="val 499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2837688"/>
            <a:ext cx="683514" cy="228600"/>
          </a:xfrm>
          <a:prstGeom prst="roundRect">
            <a:avLst>
              <a:gd name="adj" fmla="val 20000"/>
            </a:avLst>
          </a:prstGeom>
          <a:solidFill>
            <a:srgbClr val="F1F5F9"/>
          </a:solidFill>
          <a:ln>
            <a:solidFill>
              <a:srgbClr val="F1F5F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MANUAL</a:t>
            </a:r>
            <a:endParaRPr lang="en-US" sz="975" dirty="0"/>
          </a:p>
        </p:txBody>
      </p:sp>
      <p:sp>
        <p:nvSpPr>
          <p:cNvPr id="6" name="Text 4"/>
          <p:cNvSpPr/>
          <p:nvPr/>
        </p:nvSpPr>
        <p:spPr>
          <a:xfrm>
            <a:off x="1677162" y="2805684"/>
            <a:ext cx="399364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Map, then popup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83920" y="3262884"/>
            <a:ext cx="4786884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Doctor, location, specialty, report dest, and report copy come from dictionary.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83920" y="378104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Unmapped codes block Register.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83920" y="410870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Staff can create a doctor when dictionary allows it.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46876" y="2513076"/>
            <a:ext cx="5335524" cy="2197608"/>
          </a:xfrm>
          <a:prstGeom prst="roundRect">
            <a:avLst>
              <a:gd name="adj" fmla="val 4993"/>
            </a:avLst>
          </a:prstGeom>
          <a:solidFill>
            <a:srgbClr val="FFFFFF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21196" y="2837688"/>
            <a:ext cx="1054989" cy="228600"/>
          </a:xfrm>
          <a:prstGeom prst="roundRect">
            <a:avLst>
              <a:gd name="adj" fmla="val 20000"/>
            </a:avLst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SORTER POST</a:t>
            </a:r>
            <a:endParaRPr lang="en-US" sz="975" dirty="0"/>
          </a:p>
        </p:txBody>
      </p:sp>
      <p:sp>
        <p:nvSpPr>
          <p:cNvPr id="12" name="Text 10"/>
          <p:cNvSpPr/>
          <p:nvPr/>
        </p:nvSpPr>
        <p:spPr>
          <a:xfrm>
            <a:off x="7685913" y="2805684"/>
            <a:ext cx="36221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Same map. No create.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21196" y="326288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Same five mappings go onto the packed register call.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521196" y="359054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Any miss is Failure, same message codes as Spec Ack.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521196" y="3918204"/>
            <a:ext cx="4786884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 not auto-create a doctor or location. Send the tube to staff.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09600" y="4939284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 not compare workbench lab to the order test lab.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PROPOSED CHANGE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Worksheet printing - all after Registered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417826"/>
            <a:ext cx="5335524" cy="2388108"/>
          </a:xfrm>
          <a:prstGeom prst="roundRect">
            <a:avLst>
              <a:gd name="adj" fmla="val 459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2742438"/>
            <a:ext cx="683514" cy="228600"/>
          </a:xfrm>
          <a:prstGeom prst="roundRect">
            <a:avLst>
              <a:gd name="adj" fmla="val 20000"/>
            </a:avLst>
          </a:prstGeom>
          <a:solidFill>
            <a:srgbClr val="F1F5F9"/>
          </a:solidFill>
          <a:ln>
            <a:solidFill>
              <a:srgbClr val="F1F5F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MANUAL</a:t>
            </a:r>
            <a:endParaRPr lang="en-US" sz="975" dirty="0"/>
          </a:p>
        </p:txBody>
      </p:sp>
      <p:sp>
        <p:nvSpPr>
          <p:cNvPr id="6" name="Text 4"/>
          <p:cNvSpPr/>
          <p:nvPr/>
        </p:nvSpPr>
        <p:spPr>
          <a:xfrm>
            <a:off x="1677162" y="2710434"/>
            <a:ext cx="399364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Staff print after Register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83920" y="3167634"/>
            <a:ext cx="4786884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Staff can print GCRS, send-out, and SH worksheets after register.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83920" y="368579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If more than one worksheet, staff pick.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83920" y="401345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Labels can also print on the staff path.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46876" y="2417826"/>
            <a:ext cx="5335524" cy="2388108"/>
          </a:xfrm>
          <a:prstGeom prst="roundRect">
            <a:avLst>
              <a:gd name="adj" fmla="val 4595"/>
            </a:avLst>
          </a:prstGeom>
          <a:solidFill>
            <a:srgbClr val="FFFFFF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21196" y="2742438"/>
            <a:ext cx="1054989" cy="228600"/>
          </a:xfrm>
          <a:prstGeom prst="roundRect">
            <a:avLst>
              <a:gd name="adj" fmla="val 20000"/>
            </a:avLst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SORTER POST</a:t>
            </a:r>
            <a:endParaRPr lang="en-US" sz="975" dirty="0"/>
          </a:p>
        </p:txBody>
      </p:sp>
      <p:sp>
        <p:nvSpPr>
          <p:cNvPr id="12" name="Text 10"/>
          <p:cNvSpPr/>
          <p:nvPr/>
        </p:nvSpPr>
        <p:spPr>
          <a:xfrm>
            <a:off x="7685913" y="2710434"/>
            <a:ext cx="36221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Print all, after the HTTP return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21196" y="3167634"/>
            <a:ext cx="4786884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Return REGISTERED first. Then print every worksheet Spec Ack would. No picker.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521196" y="368579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Send-out, Relabel, and Failure print nothing. No labels.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521196" y="4013454"/>
            <a:ext cx="4786884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Late worksheet is allowed. Print fail is ALS. Status stays Registered.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09600" y="5034534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p95 under 4 seconds is retrieve plus send-out or register. Print is off that clock.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PROPOSED CHANGE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PHLC electronic order - after Registered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417826"/>
            <a:ext cx="5335524" cy="2388108"/>
          </a:xfrm>
          <a:prstGeom prst="roundRect">
            <a:avLst>
              <a:gd name="adj" fmla="val 459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2742438"/>
            <a:ext cx="683514" cy="228600"/>
          </a:xfrm>
          <a:prstGeom prst="roundRect">
            <a:avLst>
              <a:gd name="adj" fmla="val 20000"/>
            </a:avLst>
          </a:prstGeom>
          <a:solidFill>
            <a:srgbClr val="F1F5F9"/>
          </a:solidFill>
          <a:ln>
            <a:solidFill>
              <a:srgbClr val="F1F5F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MANUAL</a:t>
            </a:r>
            <a:endParaRPr lang="en-US" sz="975" dirty="0"/>
          </a:p>
        </p:txBody>
      </p:sp>
      <p:sp>
        <p:nvSpPr>
          <p:cNvPr id="6" name="Text 4"/>
          <p:cNvSpPr/>
          <p:nvPr/>
        </p:nvSpPr>
        <p:spPr>
          <a:xfrm>
            <a:off x="1677162" y="2710434"/>
            <a:ext cx="399364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Screen calls PHLC after register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83920" y="316763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Spec Ack creates a PHLC order when the lab option is on.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83920" y="349529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Destination must match the existing PHLC rule.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83920" y="382295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Staff wait on the screen for that call.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46876" y="2417826"/>
            <a:ext cx="5335524" cy="2388108"/>
          </a:xfrm>
          <a:prstGeom prst="roundRect">
            <a:avLst>
              <a:gd name="adj" fmla="val 4595"/>
            </a:avLst>
          </a:prstGeom>
          <a:solidFill>
            <a:srgbClr val="FFFFFF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21196" y="2742438"/>
            <a:ext cx="1054989" cy="228600"/>
          </a:xfrm>
          <a:prstGeom prst="roundRect">
            <a:avLst>
              <a:gd name="adj" fmla="val 20000"/>
            </a:avLst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SORTER POST</a:t>
            </a:r>
            <a:endParaRPr lang="en-US" sz="975" dirty="0"/>
          </a:p>
        </p:txBody>
      </p:sp>
      <p:sp>
        <p:nvSpPr>
          <p:cNvPr id="12" name="Text 10"/>
          <p:cNvSpPr/>
          <p:nvPr/>
        </p:nvSpPr>
        <p:spPr>
          <a:xfrm>
            <a:off x="7685913" y="2710434"/>
            <a:ext cx="36221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Same create. Sorter does not wait.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21196" y="3167634"/>
            <a:ext cx="4786884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Same PHLC create, in-process, after REGISTERED is already back.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521196" y="3685794"/>
            <a:ext cx="4786884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Only when Spec Ack would send. Send-out, Relabel, and Failure skip it.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521196" y="420395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PHLC fail is ALS. Sorter status stays Registered.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09600" y="5034534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labels on the sorter path. Worksheet and PHLC never run on Send-out.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PROMOTION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Seed user, workbench, and map, then deploy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1953768"/>
            <a:ext cx="5335524" cy="1818132"/>
          </a:xfrm>
          <a:prstGeom prst="roundRect">
            <a:avLst>
              <a:gd name="adj" fmla="val 603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2273808"/>
            <a:ext cx="310896" cy="310896"/>
          </a:xfrm>
          <a:prstGeom prst="ellipse">
            <a:avLst/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125" dirty="0"/>
          </a:p>
        </p:txBody>
      </p:sp>
      <p:sp>
        <p:nvSpPr>
          <p:cNvPr id="6" name="Text 4"/>
          <p:cNvSpPr/>
          <p:nvPr/>
        </p:nvSpPr>
        <p:spPr>
          <a:xfrm>
            <a:off x="883920" y="2712720"/>
            <a:ext cx="4786884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Create the sorter user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83920" y="3023235"/>
            <a:ext cx="4786884" cy="5840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Dedicated LIS user on the audit trail. Not a shared staff login.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246876" y="1953768"/>
            <a:ext cx="5335524" cy="1818132"/>
          </a:xfrm>
          <a:prstGeom prst="roundRect">
            <a:avLst>
              <a:gd name="adj" fmla="val 603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21196" y="2273808"/>
            <a:ext cx="310896" cy="310896"/>
          </a:xfrm>
          <a:prstGeom prst="ellipse">
            <a:avLst/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125" dirty="0"/>
          </a:p>
        </p:txBody>
      </p:sp>
      <p:sp>
        <p:nvSpPr>
          <p:cNvPr id="10" name="Text 8"/>
          <p:cNvSpPr/>
          <p:nvPr/>
        </p:nvSpPr>
        <p:spPr>
          <a:xfrm>
            <a:off x="6521196" y="2712720"/>
            <a:ext cx="4786884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Seed a workbench row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521196" y="3023235"/>
            <a:ext cx="4786884" cy="5840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row per sorter: hosp, lab, station name, location, printer.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09600" y="4000500"/>
            <a:ext cx="5335524" cy="1818132"/>
          </a:xfrm>
          <a:prstGeom prst="roundRect">
            <a:avLst>
              <a:gd name="adj" fmla="val 603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83920" y="4320540"/>
            <a:ext cx="310896" cy="310896"/>
          </a:xfrm>
          <a:prstGeom prst="ellipse">
            <a:avLst/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125" dirty="0"/>
          </a:p>
        </p:txBody>
      </p:sp>
      <p:sp>
        <p:nvSpPr>
          <p:cNvPr id="14" name="Text 12"/>
          <p:cNvSpPr/>
          <p:nvPr/>
        </p:nvSpPr>
        <p:spPr>
          <a:xfrm>
            <a:off x="883920" y="4759452"/>
            <a:ext cx="4786884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Insert the map row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83920" y="5069967"/>
            <a:ext cx="4786884" cy="5840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Sorter id, user, and workbench id on loe_specimen_sorter_map.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246876" y="4000500"/>
            <a:ext cx="5335524" cy="1818132"/>
          </a:xfrm>
          <a:prstGeom prst="roundRect">
            <a:avLst>
              <a:gd name="adj" fmla="val 603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21196" y="4320540"/>
            <a:ext cx="310896" cy="310896"/>
          </a:xfrm>
          <a:prstGeom prst="ellipse">
            <a:avLst/>
          </a:prstGeom>
          <a:solidFill>
            <a:srgbClr val="FEF3C7"/>
          </a:solidFill>
          <a:ln>
            <a:solidFill>
              <a:srgbClr val="FEF3C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B4530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125" dirty="0"/>
          </a:p>
        </p:txBody>
      </p:sp>
      <p:sp>
        <p:nvSpPr>
          <p:cNvPr id="18" name="Text 16"/>
          <p:cNvSpPr/>
          <p:nvPr/>
        </p:nvSpPr>
        <p:spPr>
          <a:xfrm>
            <a:off x="6521196" y="4759452"/>
            <a:ext cx="4786884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Deploy and open the path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521196" y="5069967"/>
            <a:ext cx="4786884" cy="5840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Deploy lis-crs-spec-ack-svc. NetworkPolicy only. No API key in v1.</a:t>
            </a:r>
            <a:endParaRPr lang="en-US" sz="13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FALLBACK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Stop middleware. Staff Spec Ack is unchanged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869978"/>
            <a:ext cx="3505200" cy="2032444"/>
          </a:xfrm>
          <a:prstGeom prst="roundRect">
            <a:avLst>
              <a:gd name="adj" fmla="val 539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3190018"/>
            <a:ext cx="310896" cy="310896"/>
          </a:xfrm>
          <a:prstGeom prst="ellipse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125" dirty="0"/>
          </a:p>
        </p:txBody>
      </p:sp>
      <p:sp>
        <p:nvSpPr>
          <p:cNvPr id="6" name="Text 4"/>
          <p:cNvSpPr/>
          <p:nvPr/>
        </p:nvSpPr>
        <p:spPr>
          <a:xfrm>
            <a:off x="883920" y="3628930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Stop middleware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83920" y="3939445"/>
            <a:ext cx="2956560" cy="7983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Staff clicks still retrieve, send-out, and register.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343400" y="2869978"/>
            <a:ext cx="3505200" cy="2032444"/>
          </a:xfrm>
          <a:prstGeom prst="roundRect">
            <a:avLst>
              <a:gd name="adj" fmla="val 539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17720" y="3190018"/>
            <a:ext cx="310896" cy="310896"/>
          </a:xfrm>
          <a:prstGeom prst="ellipse">
            <a:avLst/>
          </a:prstGeom>
          <a:solidFill>
            <a:srgbClr val="FEF3C7"/>
          </a:solidFill>
          <a:ln>
            <a:solidFill>
              <a:srgbClr val="FEF3C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B4530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125" dirty="0"/>
          </a:p>
        </p:txBody>
      </p:sp>
      <p:sp>
        <p:nvSpPr>
          <p:cNvPr id="10" name="Text 8"/>
          <p:cNvSpPr/>
          <p:nvPr/>
        </p:nvSpPr>
        <p:spPr>
          <a:xfrm>
            <a:off x="4617720" y="3628930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Drop the map table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617720" y="3939445"/>
            <a:ext cx="2956560" cy="7983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DROP TABLE loe_specimen_sorter_map on full rollback. Leave or disable the workbench and user.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8077200" y="2869978"/>
            <a:ext cx="3505200" cy="2032444"/>
          </a:xfrm>
          <a:prstGeom prst="roundRect">
            <a:avLst>
              <a:gd name="adj" fmla="val 539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51520" y="3190018"/>
            <a:ext cx="310896" cy="310896"/>
          </a:xfrm>
          <a:prstGeom prst="ellipse">
            <a:avLst/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125" dirty="0"/>
          </a:p>
        </p:txBody>
      </p:sp>
      <p:sp>
        <p:nvSpPr>
          <p:cNvPr id="14" name="Text 12"/>
          <p:cNvSpPr/>
          <p:nvPr/>
        </p:nvSpPr>
        <p:spPr>
          <a:xfrm>
            <a:off x="8351520" y="3628930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 history rewrite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351520" y="3939445"/>
            <a:ext cx="2956560" cy="7983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 not convert historical requests. Fallback is operational.</a:t>
            </a:r>
            <a:endParaRPr lang="en-US" sz="13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OPEN QUESTIONS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Four decisions to ratify before build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1824228"/>
            <a:ext cx="10972800" cy="797814"/>
          </a:xfrm>
          <a:prstGeom prst="roundRect">
            <a:avLst>
              <a:gd name="adj" fmla="val 1375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7344" y="1824228"/>
            <a:ext cx="502920" cy="797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341120" y="2007108"/>
            <a:ext cx="10003536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Leave v1 with NetworkPolicy only, no API key or Hub JWT?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1341120" y="2267712"/>
            <a:ext cx="1000353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Same isolation as Spec Ack today (D1).</a:t>
            </a:r>
            <a:endParaRPr lang="en-US" sz="1125" dirty="0"/>
          </a:p>
        </p:txBody>
      </p:sp>
      <p:sp>
        <p:nvSpPr>
          <p:cNvPr id="8" name="Shape 6"/>
          <p:cNvSpPr/>
          <p:nvPr/>
        </p:nvSpPr>
        <p:spPr>
          <a:xfrm>
            <a:off x="609600" y="2750058"/>
            <a:ext cx="10972800" cy="797814"/>
          </a:xfrm>
          <a:prstGeom prst="roundRect">
            <a:avLst>
              <a:gd name="adj" fmla="val 1375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47344" y="2750058"/>
            <a:ext cx="502920" cy="797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02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341120" y="2932938"/>
            <a:ext cx="10003536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Fail the tube when the USID has both local and send-out tests?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1341120" y="3193542"/>
            <a:ext cx="1000353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Staff Spec Ack only warns (D3).</a:t>
            </a:r>
            <a:endParaRPr lang="en-US" sz="1125" dirty="0"/>
          </a:p>
        </p:txBody>
      </p:sp>
      <p:sp>
        <p:nvSpPr>
          <p:cNvPr id="12" name="Shape 10"/>
          <p:cNvSpPr/>
          <p:nvPr/>
        </p:nvSpPr>
        <p:spPr>
          <a:xfrm>
            <a:off x="609600" y="3675888"/>
            <a:ext cx="10972800" cy="797814"/>
          </a:xfrm>
          <a:prstGeom prst="roundRect">
            <a:avLst>
              <a:gd name="adj" fmla="val 1375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47344" y="3675888"/>
            <a:ext cx="502920" cy="797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341120" y="3858768"/>
            <a:ext cx="10003536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Print worksheets and PHLC only after Registered, after HTTP return?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1341120" y="4119372"/>
            <a:ext cx="1000353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Send-out prints nothing (D11, D4, D5).</a:t>
            </a:r>
            <a:endParaRPr lang="en-US" sz="1125" dirty="0"/>
          </a:p>
        </p:txBody>
      </p:sp>
      <p:sp>
        <p:nvSpPr>
          <p:cNvPr id="16" name="Shape 14"/>
          <p:cNvSpPr/>
          <p:nvPr/>
        </p:nvSpPr>
        <p:spPr>
          <a:xfrm>
            <a:off x="609600" y="4601718"/>
            <a:ext cx="10972800" cy="797814"/>
          </a:xfrm>
          <a:prstGeom prst="roundRect">
            <a:avLst>
              <a:gd name="adj" fmla="val 1375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7344" y="4601718"/>
            <a:ext cx="502920" cy="797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341120" y="4784598"/>
            <a:ext cx="10003536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Show SORT_* actions on the Audit Trail filter?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1341120" y="5045202"/>
            <a:ext cx="1000353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Still write REG and SEND_OUT (D6).</a:t>
            </a:r>
            <a:endParaRPr lang="en-US" sz="1125" dirty="0"/>
          </a:p>
        </p:txBody>
      </p:sp>
      <p:sp>
        <p:nvSpPr>
          <p:cNvPr id="20" name="Text 18"/>
          <p:cNvSpPr/>
          <p:nvPr/>
        </p:nvSpPr>
        <p:spPr>
          <a:xfrm>
            <a:off x="609600" y="5628132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Requester already answered D1-D11. This room ratifies.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90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237232" y="2963164"/>
            <a:ext cx="7717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spc="150" kern="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DISCUSSION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2237232" y="3310636"/>
            <a:ext cx="7717536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40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Q&amp;A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90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867400" y="1415987"/>
            <a:ext cx="457200" cy="457200"/>
          </a:xfrm>
          <a:prstGeom prst="ellipse">
            <a:avLst/>
          </a:prstGeom>
          <a:solidFill>
            <a:srgbClr val="082F49"/>
          </a:solidFill>
          <a:ln w="12700">
            <a:solidFill>
              <a:srgbClr val="082F49"/>
            </a:solidFill>
            <a:prstDash val="solid"/>
          </a:ln>
        </p:spPr>
      </p:sp>
      <p:pic>
        <p:nvPicPr>
          <p:cNvPr id="3" name="Image 0" descr="/Users/dragonchong/Application/Obsidian/HA-Notes/LIS/skills/design-review-pptx/assets/icons/png/onDark/clipboard-ch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1700" y="1530287"/>
            <a:ext cx="228600" cy="2286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752600" y="2065211"/>
            <a:ext cx="8686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spc="150" kern="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NEXT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1752600" y="2394395"/>
            <a:ext cx="8686800" cy="4819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33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Target latency</a:t>
            </a:r>
            <a:endParaRPr lang="en-US" sz="3300" dirty="0"/>
          </a:p>
        </p:txBody>
      </p:sp>
      <p:sp>
        <p:nvSpPr>
          <p:cNvPr id="6" name="Text 3"/>
          <p:cNvSpPr/>
          <p:nvPr/>
        </p:nvSpPr>
        <p:spPr>
          <a:xfrm>
            <a:off x="1752600" y="2986088"/>
            <a:ext cx="86868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90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P95 &lt; 4 S</a:t>
            </a:r>
            <a:endParaRPr lang="en-US" sz="3900" dirty="0"/>
          </a:p>
        </p:txBody>
      </p:sp>
      <p:sp>
        <p:nvSpPr>
          <p:cNvPr id="7" name="Text 4"/>
          <p:cNvSpPr/>
          <p:nvPr/>
        </p:nvSpPr>
        <p:spPr>
          <a:xfrm>
            <a:off x="2406396" y="3760660"/>
            <a:ext cx="7379208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About 20 specimens a minute per lab in v1. Worksheet and PHLC sit after the sorter wait path.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838200" y="4573334"/>
            <a:ext cx="31638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ASSIGN A PRODUCTION JIRA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838200" y="4792790"/>
            <a:ext cx="31638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Replace TMP-000. Reference remains SEM20260612.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258056" y="4573334"/>
            <a:ext cx="10973" cy="56692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14088" y="4573334"/>
            <a:ext cx="31638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IMPLEMENT THE POST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4514088" y="4792790"/>
            <a:ext cx="31638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New API on lis-crs-spec-ack-svc, including the packing the screen does today.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7933944" y="4573334"/>
            <a:ext cx="10973" cy="56692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189976" y="4573334"/>
            <a:ext cx="31638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SEED SIT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8189976" y="4792790"/>
            <a:ext cx="31638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Sorter user, workbench row, and loe_specimen_sorter_map before middleware is pointed at SIT.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758952" y="6089904"/>
            <a:ext cx="10674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TMP-000   </a:t>
            </a:r>
            <a:pPr algn="ctr" indent="0" marL="0">
              <a:lnSpc>
                <a:spcPct val="120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lis-crs-spec-ack-svc  ·  Change Request</a:t>
            </a:r>
            <a:endParaRPr lang="en-US" sz="1125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Hospital Authority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Specimen Sorter API</dc:title>
  <dc:subject>lis-crs-spec-ack-svc — one POST to auto-register or send out from a USID</dc:subject>
  <dc:creator>LIS Team</dc:creator>
  <cp:lastModifiedBy>LIS Team</cp:lastModifiedBy>
  <cp:revision>1</cp:revision>
  <dcterms:created xsi:type="dcterms:W3CDTF">2026-09-15T13:32:46Z</dcterms:created>
  <dcterms:modified xsi:type="dcterms:W3CDTF">2026-09-15T13:32:46Z</dcterms:modified>
</cp:coreProperties>
</file>