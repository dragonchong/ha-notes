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Tony Chong reviewed the design on 10 Sep. Since then: no lab on the map (14 Sep), HA APIM as the consumer (15 Sep), and the map PK / column lengths (21 Sep). The Change Request key still has to be created by hand.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Spend the time on the four statuses and the sorter map. Those are the decisions.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Middleware cannot call the staff register endpoint on its own, because the packing is built on the screen first. That is why there is a new API.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service only runs the writes. The second column is what moves behind the POST.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 new service and no DDL on workbench. Staff Spec Ack stays as the Relabel and Failure bin.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tube with both local and send-out tests fails rather than splitting (D3). Relabel is not reported as Failure.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Same hosts and headers as the GCRS-LIS API specification v1.0, but a new APIM product. Business failure codes sit on data.code, never as an HTTP 4xx from LIS.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sorter must never use the retrieve GET, because of the hard-coded user. Audit rows carry wkbh_id and wkbh_station_name. Hub already has selectWorkbenchsByStationName.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 loesort_usercode or loesort_workbench_id. Location and printer stay on workbench. Server name still comes from HospitalService.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late worksheet does not change a status already returned (D4). Print failure is an ALS warning, nothing more.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Print sits outside the 4 second budget, which is why it runs after the response.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Confirm the Audit Trail filter shows SORT_* before the pilot, or staff cannot find the sorter's attempts.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Likely questions: why not let middleware call the staff register; why hospital sent skips the map; why mixed tubes fail; why user is wkbh_id.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image" Target="../media/image-5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90D1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58952" y="2113217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150" kern="0" dirty="0">
                <a:solidFill>
                  <a:srgbClr val="38BDF8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CP3</a:t>
            </a:r>
            <a:endParaRPr lang="en-US" sz="1050" dirty="0"/>
          </a:p>
        </p:txBody>
      </p:sp>
      <p:sp>
        <p:nvSpPr>
          <p:cNvPr id="3" name="Shape 1"/>
          <p:cNvSpPr/>
          <p:nvPr/>
        </p:nvSpPr>
        <p:spPr>
          <a:xfrm>
            <a:off x="1181862" y="2227517"/>
            <a:ext cx="301752" cy="10973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602486" y="2113217"/>
            <a:ext cx="997991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94A3B8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DESIGN REVIEW  ·  21 SEP 2026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758952" y="2478977"/>
            <a:ext cx="9098280" cy="554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3900" dirty="0">
                <a:solidFill>
                  <a:srgbClr val="FFFFF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Specimen Sorter API</a:t>
            </a:r>
            <a:endParaRPr lang="en-US" sz="3900" dirty="0"/>
          </a:p>
        </p:txBody>
      </p:sp>
      <p:sp>
        <p:nvSpPr>
          <p:cNvPr id="6" name="Text 4"/>
          <p:cNvSpPr/>
          <p:nvPr/>
        </p:nvSpPr>
        <p:spPr>
          <a:xfrm>
            <a:off x="758952" y="3216593"/>
            <a:ext cx="6583680" cy="7143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Sorter middleware calls one POST on lis-crs-spec-ack-svc. It sends out or registers the tube by USID, with the validations and packing Specimen Acknowledgement runs today.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758952" y="4315016"/>
            <a:ext cx="163372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SERVICE</a:t>
            </a:r>
            <a:endParaRPr lang="en-US" sz="1050" dirty="0"/>
          </a:p>
        </p:txBody>
      </p:sp>
      <p:sp>
        <p:nvSpPr>
          <p:cNvPr id="8" name="Text 6"/>
          <p:cNvSpPr/>
          <p:nvPr/>
        </p:nvSpPr>
        <p:spPr>
          <a:xfrm>
            <a:off x="758952" y="4525328"/>
            <a:ext cx="16337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F1F5F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lis-crs-spec-ack-svc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2648712" y="4315016"/>
            <a:ext cx="10973" cy="384048"/>
          </a:xfrm>
          <a:prstGeom prst="rect">
            <a:avLst/>
          </a:prstGeom>
          <a:solidFill>
            <a:srgbClr val="1E293B"/>
          </a:solidFill>
          <a:ln w="12700">
            <a:solidFill>
              <a:srgbClr val="1E293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2904744" y="4315016"/>
            <a:ext cx="79552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CHANGE</a:t>
            </a:r>
            <a:endParaRPr lang="en-US" sz="1050" dirty="0"/>
          </a:p>
        </p:txBody>
      </p:sp>
      <p:sp>
        <p:nvSpPr>
          <p:cNvPr id="11" name="Text 9"/>
          <p:cNvSpPr/>
          <p:nvPr/>
        </p:nvSpPr>
        <p:spPr>
          <a:xfrm>
            <a:off x="2904744" y="4525328"/>
            <a:ext cx="7955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F1F5F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LIS-XXXXX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3956304" y="4315016"/>
            <a:ext cx="10973" cy="384048"/>
          </a:xfrm>
          <a:prstGeom prst="rect">
            <a:avLst/>
          </a:prstGeom>
          <a:solidFill>
            <a:srgbClr val="1E293B"/>
          </a:solidFill>
          <a:ln w="12700">
            <a:solidFill>
              <a:srgbClr val="1E293B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212336" y="4315016"/>
            <a:ext cx="90982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PRESENTERS</a:t>
            </a:r>
            <a:endParaRPr lang="en-US" sz="1050" dirty="0"/>
          </a:p>
        </p:txBody>
      </p:sp>
      <p:sp>
        <p:nvSpPr>
          <p:cNvPr id="14" name="Text 12"/>
          <p:cNvSpPr/>
          <p:nvPr/>
        </p:nvSpPr>
        <p:spPr>
          <a:xfrm>
            <a:off x="4212336" y="4525328"/>
            <a:ext cx="9098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F1F5F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Tony Chong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09600" y="457200"/>
            <a:ext cx="10972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150" kern="0" dirty="0">
                <a:solidFill>
                  <a:srgbClr val="0284C7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AGENDA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609600" y="722376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What this review covers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609600" y="1581912"/>
            <a:ext cx="10972800" cy="804672"/>
          </a:xfrm>
          <a:prstGeom prst="roundRect">
            <a:avLst>
              <a:gd name="adj" fmla="val 13636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47344" y="1581912"/>
            <a:ext cx="50292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0284C7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01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1341120" y="1581912"/>
            <a:ext cx="10003536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Background</a:t>
            </a:r>
            <a:endParaRPr lang="en-US" sz="1350" dirty="0"/>
          </a:p>
        </p:txBody>
      </p:sp>
      <p:sp>
        <p:nvSpPr>
          <p:cNvPr id="7" name="Shape 5"/>
          <p:cNvSpPr/>
          <p:nvPr/>
        </p:nvSpPr>
        <p:spPr>
          <a:xfrm>
            <a:off x="609600" y="2532888"/>
            <a:ext cx="10972800" cy="804672"/>
          </a:xfrm>
          <a:prstGeom prst="roundRect">
            <a:avLst>
              <a:gd name="adj" fmla="val 13636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47344" y="2532888"/>
            <a:ext cx="50292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0284C7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02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1341120" y="2532888"/>
            <a:ext cx="10003536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Existing design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609600" y="3483864"/>
            <a:ext cx="10972800" cy="804672"/>
          </a:xfrm>
          <a:prstGeom prst="roundRect">
            <a:avLst>
              <a:gd name="adj" fmla="val 13636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47344" y="3483864"/>
            <a:ext cx="50292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0284C7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03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1341120" y="3483864"/>
            <a:ext cx="10003536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Proposed change</a:t>
            </a:r>
            <a:endParaRPr lang="en-US" sz="1350" dirty="0"/>
          </a:p>
        </p:txBody>
      </p:sp>
      <p:sp>
        <p:nvSpPr>
          <p:cNvPr id="13" name="Shape 11"/>
          <p:cNvSpPr/>
          <p:nvPr/>
        </p:nvSpPr>
        <p:spPr>
          <a:xfrm>
            <a:off x="609600" y="4434840"/>
            <a:ext cx="10972800" cy="804672"/>
          </a:xfrm>
          <a:prstGeom prst="roundRect">
            <a:avLst>
              <a:gd name="adj" fmla="val 13636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47344" y="4434840"/>
            <a:ext cx="50292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0284C7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04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1341120" y="4434840"/>
            <a:ext cx="10003536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API contract and data</a:t>
            </a:r>
            <a:endParaRPr lang="en-US" sz="1350" dirty="0"/>
          </a:p>
        </p:txBody>
      </p:sp>
      <p:sp>
        <p:nvSpPr>
          <p:cNvPr id="16" name="Shape 14"/>
          <p:cNvSpPr/>
          <p:nvPr/>
        </p:nvSpPr>
        <p:spPr>
          <a:xfrm>
            <a:off x="609600" y="5385816"/>
            <a:ext cx="10972800" cy="804672"/>
          </a:xfrm>
          <a:prstGeom prst="roundRect">
            <a:avLst>
              <a:gd name="adj" fmla="val 13636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847344" y="5385816"/>
            <a:ext cx="50292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0284C7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05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1341120" y="5385816"/>
            <a:ext cx="10003536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Promotion and fallback</a:t>
            </a:r>
            <a:endParaRPr lang="en-US" sz="13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09600" y="457200"/>
            <a:ext cx="10972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150" kern="0" dirty="0">
                <a:solidFill>
                  <a:srgbClr val="0284C7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01. BACKGROUND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609600" y="722376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Staff scan and click today. The sorter will call LIS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609600" y="2882646"/>
            <a:ext cx="5335524" cy="2007108"/>
          </a:xfrm>
          <a:prstGeom prst="roundRect">
            <a:avLst>
              <a:gd name="adj" fmla="val 5467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83920" y="3207258"/>
            <a:ext cx="609219" cy="228600"/>
          </a:xfrm>
          <a:prstGeom prst="roundRect">
            <a:avLst>
              <a:gd name="adj" fmla="val 20000"/>
            </a:avLst>
          </a:prstGeom>
          <a:solidFill>
            <a:srgbClr val="FEE2E2"/>
          </a:solidFill>
          <a:ln>
            <a:solidFill>
              <a:srgbClr val="FEE2E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75" b="1" dirty="0">
                <a:solidFill>
                  <a:srgbClr val="B91C1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AS-IS</a:t>
            </a:r>
            <a:endParaRPr lang="en-US" sz="975" dirty="0"/>
          </a:p>
        </p:txBody>
      </p:sp>
      <p:sp>
        <p:nvSpPr>
          <p:cNvPr id="6" name="Text 4"/>
          <p:cNvSpPr/>
          <p:nvPr/>
        </p:nvSpPr>
        <p:spPr>
          <a:xfrm>
            <a:off x="1602867" y="3175254"/>
            <a:ext cx="4067937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Staff scan and press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883920" y="3632454"/>
            <a:ext cx="4786884" cy="2087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Where: </a:t>
            </a:r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Specimen Acknowledgement in ECPath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883920" y="3960114"/>
            <a:ext cx="4786884" cy="2087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Action: </a:t>
            </a:r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scan the label, then Send-out or Register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883920" y="4287774"/>
            <a:ext cx="4786884" cy="2087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Result: </a:t>
            </a:r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on screen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6246876" y="2882646"/>
            <a:ext cx="5335524" cy="2007108"/>
          </a:xfrm>
          <a:prstGeom prst="roundRect">
            <a:avLst>
              <a:gd name="adj" fmla="val 5467"/>
            </a:avLst>
          </a:prstGeom>
          <a:solidFill>
            <a:srgbClr val="FFFFFF"/>
          </a:solidFill>
          <a:ln w="19050">
            <a:solidFill>
              <a:srgbClr val="0284C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521196" y="3207258"/>
            <a:ext cx="609219" cy="228600"/>
          </a:xfrm>
          <a:prstGeom prst="roundRect">
            <a:avLst>
              <a:gd name="adj" fmla="val 20000"/>
            </a:avLst>
          </a:prstGeom>
          <a:solidFill>
            <a:srgbClr val="E0F2FE"/>
          </a:solidFill>
          <a:ln>
            <a:solidFill>
              <a:srgbClr val="E0F2FE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75" b="1" dirty="0">
                <a:solidFill>
                  <a:srgbClr val="0369A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TO-BE</a:t>
            </a:r>
            <a:endParaRPr lang="en-US" sz="975" dirty="0"/>
          </a:p>
        </p:txBody>
      </p:sp>
      <p:sp>
        <p:nvSpPr>
          <p:cNvPr id="12" name="Text 10"/>
          <p:cNvSpPr/>
          <p:nvPr/>
        </p:nvSpPr>
        <p:spPr>
          <a:xfrm>
            <a:off x="7240143" y="3175254"/>
            <a:ext cx="4067937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Sorter scans, LIS decides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6521196" y="3632454"/>
            <a:ext cx="4786884" cy="2087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Where: </a:t>
            </a:r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sorter middleware through LIS API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6521196" y="3960114"/>
            <a:ext cx="4786884" cy="2087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Action: </a:t>
            </a:r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one POST with the USID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6521196" y="4287774"/>
            <a:ext cx="4786884" cy="2087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Result: </a:t>
            </a:r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status on the same call, sorter bins the tube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09600" y="457200"/>
            <a:ext cx="10972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150" kern="0" dirty="0">
                <a:solidFill>
                  <a:srgbClr val="0284C7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02. EXISTING DESIGN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609600" y="722376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The Spec Ack screen owns validation and packing</a:t>
            </a:r>
            <a:endParaRPr lang="en-US" sz="24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09600" y="2286000"/>
          <a:ext cx="10972800" cy="914400"/>
        </p:xfrm>
        <a:graphic>
          <a:graphicData uri="http://schemas.openxmlformats.org/drawingml/2006/table">
            <a:tbl>
              <a:tblPr/>
              <a:tblGrid>
                <a:gridCol w="1828800"/>
                <a:gridCol w="2926080"/>
                <a:gridCol w="3200400"/>
                <a:gridCol w="3017520"/>
              </a:tblGrid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b="1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Action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b="1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Screen does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b="1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Service does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b="1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Sorter API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b="1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Retrieve GCRS order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dirty="0">
                          <a:solidFill>
                            <a:srgbClr val="475569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Scans USID, calls retrieve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dirty="0">
                          <a:solidFill>
                            <a:srgbClr val="0284C7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retrieveGcrOrder</a:t>
                      </a:r>
                      <a:endParaRPr lang="en-US" sz="1125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b="1" dirty="0">
                          <a:solidFill>
                            <a:srgbClr val="0284C7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Same retrieval path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b="1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Send-out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dirty="0">
                          <a:solidFill>
                            <a:srgbClr val="475569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Staff click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dirty="0">
                          <a:solidFill>
                            <a:srgbClr val="0284C7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sendOutSpecimen</a:t>
                      </a:r>
                      <a:endParaRPr lang="en-US" sz="1125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b="1" dirty="0">
                          <a:solidFill>
                            <a:srgbClr val="0284C7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Same send-out path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b="1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Validation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dirty="0">
                          <a:solidFill>
                            <a:srgbClr val="475569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Soft prompts, hard validator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dirty="0">
                          <a:solidFill>
                            <a:srgbClr val="475569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Assumes checks passed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b="1" dirty="0">
                          <a:solidFill>
                            <a:srgbClr val="0284C7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Soft to ALS, hard to Failure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b="1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Packing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dirty="0">
                          <a:solidFill>
                            <a:srgbClr val="475569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Groups tests, request no., ward and doctor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dirty="0">
                          <a:solidFill>
                            <a:srgbClr val="0284C7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register() needs the packing</a:t>
                      </a:r>
                      <a:endParaRPr lang="en-US" sz="1125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b="1" dirty="0">
                          <a:solidFill>
                            <a:srgbClr val="0284C7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Server-side convertor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b="1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Worksheet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dirty="0">
                          <a:solidFill>
                            <a:srgbClr val="475569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Data conversion, staff pick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dirty="0">
                          <a:solidFill>
                            <a:srgbClr val="475569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Three kinds of printouts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b="1" dirty="0">
                          <a:solidFill>
                            <a:srgbClr val="0284C7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Print all, after Registered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b="1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PHLC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dirty="0">
                          <a:solidFill>
                            <a:srgbClr val="475569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Calls after register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dirty="0">
                          <a:solidFill>
                            <a:srgbClr val="0284C7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createPhlcLabOrder</a:t>
                      </a:r>
                      <a:endParaRPr lang="en-US" sz="1125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b="1" dirty="0">
                          <a:solidFill>
                            <a:srgbClr val="0284C7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After Registered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609600" y="2286000"/>
            <a:ext cx="10972800" cy="3200400"/>
          </a:xfrm>
          <a:prstGeom prst="roundRect">
            <a:avLst>
              <a:gd name="adj" fmla="val 3429"/>
            </a:avLst>
          </a:prstGeom>
          <a:solidFill>
            <a:srgbClr val="FFFFFF">
              <a:alpha val="0"/>
            </a:srgbClr>
          </a:solidFill>
          <a:ln w="9525">
            <a:solidFill>
              <a:srgbClr val="E2E8F0"/>
            </a:solidFill>
            <a:prstDash val="solid"/>
          </a:ln>
        </p:spPr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09600" y="457200"/>
            <a:ext cx="10972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150" kern="0" dirty="0">
                <a:solidFill>
                  <a:srgbClr val="0284C7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03. PROPOSED CHANGE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609600" y="722376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One POST, the screen logic behind it, workbench first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609600" y="2753582"/>
            <a:ext cx="2599182" cy="2265235"/>
          </a:xfrm>
          <a:prstGeom prst="roundRect">
            <a:avLst>
              <a:gd name="adj" fmla="val 4844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pic>
        <p:nvPicPr>
          <p:cNvPr id="5" name="Image 0" descr="D:\Github\HA-Notes\LIS\skills\design-review-pptx\assets\icons\png\accent\cod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47344" y="3037046"/>
            <a:ext cx="265176" cy="265176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847344" y="3494246"/>
            <a:ext cx="2123694" cy="19716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New API</a:t>
            </a:r>
            <a:endParaRPr lang="en-US" sz="1350" dirty="0"/>
          </a:p>
        </p:txBody>
      </p:sp>
      <p:sp>
        <p:nvSpPr>
          <p:cNvPr id="7" name="Text 4"/>
          <p:cNvSpPr/>
          <p:nvPr/>
        </p:nvSpPr>
        <p:spPr>
          <a:xfrm>
            <a:off x="847344" y="3782854"/>
            <a:ext cx="2123694" cy="109331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POST /api/sorter/auto-register on lis-crs-spec-ack-svc</a:t>
            </a:r>
            <a:endParaRPr lang="en-US" sz="1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ECPath /api/specack is unchanged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3400806" y="2753582"/>
            <a:ext cx="2599182" cy="2265235"/>
          </a:xfrm>
          <a:prstGeom prst="roundRect">
            <a:avLst>
              <a:gd name="adj" fmla="val 4844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pic>
        <p:nvPicPr>
          <p:cNvPr id="9" name="Image 1" descr="D:\Github\HA-Notes\LIS\skills\design-review-pptx\assets\icons\png\accent\layer-group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38550" y="3037046"/>
            <a:ext cx="265176" cy="265176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3638550" y="3494246"/>
            <a:ext cx="2123694" cy="19716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Move screen logic</a:t>
            </a:r>
            <a:endParaRPr lang="en-US" sz="1350" dirty="0"/>
          </a:p>
        </p:txBody>
      </p:sp>
      <p:sp>
        <p:nvSpPr>
          <p:cNvPr id="11" name="Text 7"/>
          <p:cNvSpPr/>
          <p:nvPr/>
        </p:nvSpPr>
        <p:spPr>
          <a:xfrm>
            <a:off x="3638550" y="3782854"/>
            <a:ext cx="2123694" cy="109331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Retrieve, validation, packing on the server</a:t>
            </a:r>
            <a:endParaRPr lang="en-US" sz="1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Then existng send-out, register, print, PHLC</a:t>
            </a:r>
            <a:endParaRPr lang="en-US" sz="1200" dirty="0"/>
          </a:p>
        </p:txBody>
      </p:sp>
      <p:sp>
        <p:nvSpPr>
          <p:cNvPr id="12" name="Shape 8"/>
          <p:cNvSpPr/>
          <p:nvPr/>
        </p:nvSpPr>
        <p:spPr>
          <a:xfrm>
            <a:off x="6192012" y="2753582"/>
            <a:ext cx="2599182" cy="2265235"/>
          </a:xfrm>
          <a:prstGeom prst="roundRect">
            <a:avLst>
              <a:gd name="adj" fmla="val 4844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pic>
        <p:nvPicPr>
          <p:cNvPr id="13" name="Image 2" descr="D:\Github\HA-Notes\LIS\skills\design-review-pptx\assets\icons\png\accent\table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29756" y="3037046"/>
            <a:ext cx="265176" cy="265176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6429756" y="3494246"/>
            <a:ext cx="2123694" cy="19716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Workbench first</a:t>
            </a:r>
            <a:endParaRPr lang="en-US" sz="1350" dirty="0"/>
          </a:p>
        </p:txBody>
      </p:sp>
      <p:sp>
        <p:nvSpPr>
          <p:cNvPr id="15" name="Text 10"/>
          <p:cNvSpPr/>
          <p:nvPr/>
        </p:nvSpPr>
        <p:spPr>
          <a:xfrm>
            <a:off x="6429756" y="3782854"/>
            <a:ext cx="2123694" cy="109331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sorterId = wkbh_station_name</a:t>
            </a:r>
            <a:endParaRPr lang="en-US" sz="1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User = wkbh_id</a:t>
            </a:r>
            <a:endParaRPr lang="en-US" sz="1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Map only if hospital omitted</a:t>
            </a:r>
            <a:endParaRPr lang="en-US" sz="1200" dirty="0"/>
          </a:p>
        </p:txBody>
      </p:sp>
      <p:sp>
        <p:nvSpPr>
          <p:cNvPr id="16" name="Shape 11"/>
          <p:cNvSpPr/>
          <p:nvPr/>
        </p:nvSpPr>
        <p:spPr>
          <a:xfrm>
            <a:off x="8983218" y="2753582"/>
            <a:ext cx="2599182" cy="2265235"/>
          </a:xfrm>
          <a:prstGeom prst="roundRect">
            <a:avLst>
              <a:gd name="adj" fmla="val 4844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pic>
        <p:nvPicPr>
          <p:cNvPr id="17" name="Image 3" descr="D:\Github\HA-Notes\LIS\skills\design-review-pptx\assets\icons\png\accent\clipboard-check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220962" y="3037046"/>
            <a:ext cx="265176" cy="265176"/>
          </a:xfrm>
          <a:prstGeom prst="rect">
            <a:avLst/>
          </a:prstGeom>
        </p:spPr>
      </p:pic>
      <p:sp>
        <p:nvSpPr>
          <p:cNvPr id="18" name="Text 12"/>
          <p:cNvSpPr/>
          <p:nvPr/>
        </p:nvSpPr>
        <p:spPr>
          <a:xfrm>
            <a:off x="9220962" y="3494246"/>
            <a:ext cx="2123694" cy="19716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Audit</a:t>
            </a:r>
            <a:endParaRPr lang="en-US" sz="1350" dirty="0"/>
          </a:p>
        </p:txBody>
      </p:sp>
      <p:sp>
        <p:nvSpPr>
          <p:cNvPr id="19" name="Text 13"/>
          <p:cNvSpPr/>
          <p:nvPr/>
        </p:nvSpPr>
        <p:spPr>
          <a:xfrm>
            <a:off x="9220962" y="3782854"/>
            <a:ext cx="2123694" cy="109331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New SORT_* audits on LOE_AUDIT_TRAIL</a:t>
            </a:r>
            <a:endParaRPr lang="en-US" sz="1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Same today's REG and SEND_OUT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09600" y="457200"/>
            <a:ext cx="10972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150" kern="0" dirty="0">
                <a:solidFill>
                  <a:srgbClr val="0284C7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03A. OUTCOME FLOW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609600" y="722376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Every tube ends in one of four statuses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609600" y="1965960"/>
            <a:ext cx="1554480" cy="1005840"/>
          </a:xfrm>
          <a:prstGeom prst="roundRect">
            <a:avLst>
              <a:gd name="adj" fmla="val 10909"/>
            </a:avLst>
          </a:prstGeom>
          <a:solidFill>
            <a:srgbClr val="FFFFFF"/>
          </a:solidFill>
          <a:ln w="9525">
            <a:solidFill>
              <a:srgbClr val="E2E8F0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POST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USID + sorterId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2255520" y="2359152"/>
            <a:ext cx="274320" cy="219456"/>
          </a:xfrm>
          <a:prstGeom prst="rightArrow">
            <a:avLst/>
          </a:prstGeom>
          <a:solidFill>
            <a:srgbClr val="CBD5E1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648712" y="1828800"/>
            <a:ext cx="2103120" cy="1280160"/>
          </a:xfrm>
          <a:prstGeom prst="hexagon">
            <a:avLst/>
          </a:prstGeom>
          <a:solidFill>
            <a:srgbClr val="FFFFFF"/>
          </a:solidFill>
          <a:ln w="12700">
            <a:solidFill>
              <a:srgbClr val="0284C7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0F172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All tests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0F172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send-out?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3590544" y="3200400"/>
            <a:ext cx="219456" cy="329184"/>
          </a:xfrm>
          <a:prstGeom prst="downArrow">
            <a:avLst/>
          </a:prstGeom>
          <a:solidFill>
            <a:srgbClr val="CBD5E1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883152" y="3236976"/>
            <a:ext cx="502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Yes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4843272" y="2359152"/>
            <a:ext cx="274320" cy="219456"/>
          </a:xfrm>
          <a:prstGeom prst="rightArrow">
            <a:avLst/>
          </a:prstGeom>
          <a:solidFill>
            <a:srgbClr val="CBD5E1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236464" y="1828800"/>
            <a:ext cx="2103120" cy="1280160"/>
          </a:xfrm>
          <a:prstGeom prst="hexagon">
            <a:avLst/>
          </a:prstGeom>
          <a:solidFill>
            <a:srgbClr val="FFFFFF"/>
          </a:solidFill>
          <a:ln w="12700">
            <a:solidFill>
              <a:srgbClr val="0284C7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0F172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Validations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0F172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pass?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6178296" y="3200400"/>
            <a:ext cx="219456" cy="329184"/>
          </a:xfrm>
          <a:prstGeom prst="downArrow">
            <a:avLst/>
          </a:prstGeom>
          <a:solidFill>
            <a:srgbClr val="CBD5E1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70904" y="3236976"/>
            <a:ext cx="502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7431024" y="2359152"/>
            <a:ext cx="274320" cy="219456"/>
          </a:xfrm>
          <a:prstGeom prst="rightArrow">
            <a:avLst/>
          </a:prstGeom>
          <a:solidFill>
            <a:srgbClr val="CBD5E1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321296" y="2084832"/>
            <a:ext cx="502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0284C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Yes</a:t>
            </a:r>
            <a:endParaRPr lang="en-US" sz="1050" dirty="0"/>
          </a:p>
        </p:txBody>
      </p:sp>
      <p:sp>
        <p:nvSpPr>
          <p:cNvPr id="15" name="Text 13"/>
          <p:cNvSpPr/>
          <p:nvPr/>
        </p:nvSpPr>
        <p:spPr>
          <a:xfrm>
            <a:off x="7824216" y="1828800"/>
            <a:ext cx="2103120" cy="1280160"/>
          </a:xfrm>
          <a:prstGeom prst="hexagon">
            <a:avLst/>
          </a:prstGeom>
          <a:solidFill>
            <a:srgbClr val="FFFFFF"/>
          </a:solidFill>
          <a:ln w="12700">
            <a:solidFill>
              <a:srgbClr val="0284C7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0F172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Relabel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0F172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rules?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8766048" y="3200400"/>
            <a:ext cx="219456" cy="329184"/>
          </a:xfrm>
          <a:prstGeom prst="downArrow">
            <a:avLst/>
          </a:prstGeom>
          <a:solidFill>
            <a:srgbClr val="CBD5E1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9058656" y="3236976"/>
            <a:ext cx="502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Yes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10018776" y="2359152"/>
            <a:ext cx="274320" cy="219456"/>
          </a:xfrm>
          <a:prstGeom prst="rightArrow">
            <a:avLst/>
          </a:prstGeom>
          <a:solidFill>
            <a:srgbClr val="0284C7"/>
          </a:solidFill>
          <a:ln w="12700">
            <a:solidFill>
              <a:srgbClr val="0284C7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9909048" y="2084832"/>
            <a:ext cx="502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0284C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</a:t>
            </a:r>
            <a:endParaRPr lang="en-US" sz="1050" dirty="0"/>
          </a:p>
        </p:txBody>
      </p:sp>
      <p:sp>
        <p:nvSpPr>
          <p:cNvPr id="20" name="Text 18"/>
          <p:cNvSpPr/>
          <p:nvPr/>
        </p:nvSpPr>
        <p:spPr>
          <a:xfrm>
            <a:off x="10338816" y="1965960"/>
            <a:ext cx="1243584" cy="1005840"/>
          </a:xfrm>
          <a:prstGeom prst="roundRect">
            <a:avLst>
              <a:gd name="adj" fmla="val 10909"/>
            </a:avLst>
          </a:prstGeom>
          <a:solidFill>
            <a:srgbClr val="0369A1"/>
          </a:solidFill>
          <a:ln w="9525">
            <a:solidFill>
              <a:srgbClr val="0369A1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REGISTERED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2648712" y="3675888"/>
            <a:ext cx="2103120" cy="868680"/>
          </a:xfrm>
          <a:prstGeom prst="roundRect">
            <a:avLst>
              <a:gd name="adj" fmla="val 12632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2831592" y="3803904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SEND_OUT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2831592" y="4087368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125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Existing send-out, no print</a:t>
            </a:r>
            <a:endParaRPr lang="en-US" sz="1125" dirty="0"/>
          </a:p>
        </p:txBody>
      </p:sp>
      <p:sp>
        <p:nvSpPr>
          <p:cNvPr id="24" name="Shape 22"/>
          <p:cNvSpPr/>
          <p:nvPr/>
        </p:nvSpPr>
        <p:spPr>
          <a:xfrm>
            <a:off x="5236464" y="3675888"/>
            <a:ext cx="2103120" cy="868680"/>
          </a:xfrm>
          <a:prstGeom prst="roundRect">
            <a:avLst>
              <a:gd name="adj" fmla="val 12632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5419344" y="3803904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FAILURE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5419344" y="4087368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125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Unknown sorter, lab, mixed, hard check, 4422</a:t>
            </a:r>
            <a:endParaRPr lang="en-US" sz="1125" dirty="0"/>
          </a:p>
        </p:txBody>
      </p:sp>
      <p:sp>
        <p:nvSpPr>
          <p:cNvPr id="27" name="Shape 25"/>
          <p:cNvSpPr/>
          <p:nvPr/>
        </p:nvSpPr>
        <p:spPr>
          <a:xfrm>
            <a:off x="7824216" y="3675888"/>
            <a:ext cx="2103120" cy="868680"/>
          </a:xfrm>
          <a:prstGeom prst="roundRect">
            <a:avLst>
              <a:gd name="adj" fmla="val 12632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8007096" y="3803904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RELABEL</a:t>
            </a:r>
            <a:endParaRPr lang="en-US" sz="1200" dirty="0"/>
          </a:p>
        </p:txBody>
      </p:sp>
      <p:sp>
        <p:nvSpPr>
          <p:cNvPr id="29" name="Text 27"/>
          <p:cNvSpPr/>
          <p:nvPr/>
        </p:nvSpPr>
        <p:spPr>
          <a:xfrm>
            <a:off x="8007096" y="4087368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125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Multi-group, suffix, DFT time flag</a:t>
            </a:r>
            <a:endParaRPr lang="en-US" sz="1125" dirty="0"/>
          </a:p>
        </p:txBody>
      </p:sp>
      <p:sp>
        <p:nvSpPr>
          <p:cNvPr id="30" name="Shape 28"/>
          <p:cNvSpPr/>
          <p:nvPr/>
        </p:nvSpPr>
        <p:spPr>
          <a:xfrm>
            <a:off x="609600" y="5257800"/>
            <a:ext cx="10972800" cy="868680"/>
          </a:xfrm>
          <a:prstGeom prst="roundRect">
            <a:avLst>
              <a:gd name="adj" fmla="val 12632"/>
            </a:avLst>
          </a:prstGeom>
          <a:solidFill>
            <a:srgbClr val="0F172A"/>
          </a:solidFill>
          <a:ln w="9525">
            <a:solidFill>
              <a:srgbClr val="1E293B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883920" y="5422392"/>
            <a:ext cx="3657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00" spc="120" kern="0" dirty="0">
                <a:solidFill>
                  <a:srgbClr val="38BDF8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RETURNED STATUS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883920" y="5669280"/>
            <a:ext cx="6949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REGISTERED | SEND_OUT | RELABEL | FAILURE</a:t>
            </a:r>
            <a:endParaRPr lang="en-US" sz="1200" dirty="0"/>
          </a:p>
        </p:txBody>
      </p:sp>
      <p:sp>
        <p:nvSpPr>
          <p:cNvPr id="33" name="Text 31"/>
          <p:cNvSpPr/>
          <p:nvPr/>
        </p:nvSpPr>
        <p:spPr>
          <a:xfrm>
            <a:off x="8016240" y="5440680"/>
            <a:ext cx="3291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25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HTTP 200 on every decision. Soft alerts go to ALS, never the body.</a:t>
            </a:r>
            <a:endParaRPr lang="en-US" sz="1125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09600" y="457200"/>
            <a:ext cx="10972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150" kern="0" dirty="0">
                <a:solidFill>
                  <a:srgbClr val="0284C7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04. API CONTRACT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609600" y="722376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Middleware calls through HA APIM with a gateway key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609600" y="1988820"/>
            <a:ext cx="5870448" cy="3794760"/>
          </a:xfrm>
          <a:prstGeom prst="roundRect">
            <a:avLst>
              <a:gd name="adj" fmla="val 2892"/>
            </a:avLst>
          </a:prstGeom>
          <a:solidFill>
            <a:srgbClr val="0F172A"/>
          </a:solidFill>
          <a:ln w="9525">
            <a:solidFill>
              <a:srgbClr val="1E293B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47344" y="2208276"/>
            <a:ext cx="47548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75" dirty="0">
                <a:solidFill>
                  <a:srgbClr val="38BDF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POST /api/sorter/auto-register</a:t>
            </a:r>
            <a:endParaRPr lang="en-US" sz="975" dirty="0"/>
          </a:p>
        </p:txBody>
      </p:sp>
      <p:sp>
        <p:nvSpPr>
          <p:cNvPr id="6" name="Text 4"/>
          <p:cNvSpPr/>
          <p:nvPr/>
        </p:nvSpPr>
        <p:spPr>
          <a:xfrm>
            <a:off x="5657088" y="2208276"/>
            <a:ext cx="58521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JSON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847344" y="2500884"/>
            <a:ext cx="5394960" cy="30998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25" dirty="0">
                <a:solidFill>
                  <a:srgbClr val="64748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request</a:t>
            </a:r>
            <a:endParaRPr lang="en-US" sz="1125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125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{</a:t>
            </a:r>
            <a:endParaRPr lang="en-US" sz="1125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125" dirty="0">
                <a:solidFill>
                  <a:srgbClr val="38BDF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"usid"</a:t>
            </a:r>
            <a:pPr indent="0" marL="0">
              <a:lnSpc>
                <a:spcPct val="125000"/>
              </a:lnSpc>
              <a:buNone/>
            </a:pPr>
            <a:r>
              <a:rPr lang="en-US" sz="1125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: </a:t>
            </a:r>
            <a:pPr indent="0" marL="0">
              <a:lnSpc>
                <a:spcPct val="125000"/>
              </a:lnSpc>
              <a:buNone/>
            </a:pPr>
            <a:r>
              <a:rPr lang="en-US" sz="1125" dirty="0">
                <a:solidFill>
                  <a:srgbClr val="FBBF2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"QECAA0032R"</a:t>
            </a:r>
            <a:pPr indent="0" marL="0">
              <a:lnSpc>
                <a:spcPct val="125000"/>
              </a:lnSpc>
              <a:buNone/>
            </a:pPr>
            <a:r>
              <a:rPr lang="en-US" sz="1125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,</a:t>
            </a:r>
            <a:endParaRPr lang="en-US" sz="1125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125" dirty="0">
                <a:solidFill>
                  <a:srgbClr val="38BDF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"sorterId"</a:t>
            </a:r>
            <a:pPr indent="0" marL="0">
              <a:lnSpc>
                <a:spcPct val="125000"/>
              </a:lnSpc>
              <a:buNone/>
            </a:pPr>
            <a:r>
              <a:rPr lang="en-US" sz="1125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: </a:t>
            </a:r>
            <a:pPr indent="0" marL="0">
              <a:lnSpc>
                <a:spcPct val="125000"/>
              </a:lnSpc>
              <a:buNone/>
            </a:pPr>
            <a:r>
              <a:rPr lang="en-US" sz="1125" dirty="0">
                <a:solidFill>
                  <a:srgbClr val="FBBF2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"QEH-SORTER-01"</a:t>
            </a:r>
            <a:pPr indent="0" marL="0">
              <a:lnSpc>
                <a:spcPct val="125000"/>
              </a:lnSpc>
              <a:buNone/>
            </a:pPr>
            <a:r>
              <a:rPr lang="en-US" sz="1125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,</a:t>
            </a:r>
            <a:endParaRPr lang="en-US" sz="1125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125" dirty="0">
                <a:solidFill>
                  <a:srgbClr val="38BDF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"hospital"</a:t>
            </a:r>
            <a:pPr indent="0" marL="0">
              <a:lnSpc>
                <a:spcPct val="125000"/>
              </a:lnSpc>
              <a:buNone/>
            </a:pPr>
            <a:r>
              <a:rPr lang="en-US" sz="1125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: </a:t>
            </a:r>
            <a:pPr indent="0" marL="0">
              <a:lnSpc>
                <a:spcPct val="125000"/>
              </a:lnSpc>
              <a:buNone/>
            </a:pPr>
            <a:r>
              <a:rPr lang="en-US" sz="1125" dirty="0">
                <a:solidFill>
                  <a:srgbClr val="FBBF2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"QEH"</a:t>
            </a:r>
            <a:pPr indent="0" marL="0">
              <a:lnSpc>
                <a:spcPct val="125000"/>
              </a:lnSpc>
              <a:buNone/>
            </a:pPr>
            <a:r>
              <a:rPr lang="en-US" sz="1125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,</a:t>
            </a:r>
            <a:endParaRPr lang="en-US" sz="1125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125" dirty="0">
                <a:solidFill>
                  <a:srgbClr val="38BDF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"hkid"</a:t>
            </a:r>
            <a:pPr indent="0" marL="0">
              <a:lnSpc>
                <a:spcPct val="125000"/>
              </a:lnSpc>
              <a:buNone/>
            </a:pPr>
            <a:r>
              <a:rPr lang="en-US" sz="1125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: </a:t>
            </a:r>
            <a:pPr indent="0" marL="0">
              <a:lnSpc>
                <a:spcPct val="125000"/>
              </a:lnSpc>
              <a:buNone/>
            </a:pPr>
            <a:r>
              <a:rPr lang="en-US" sz="1125" dirty="0">
                <a:solidFill>
                  <a:srgbClr val="F43F5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null</a:t>
            </a:r>
            <a:pPr indent="0" marL="0">
              <a:lnSpc>
                <a:spcPct val="125000"/>
              </a:lnSpc>
              <a:buNone/>
            </a:pPr>
            <a:r>
              <a:rPr lang="en-US" sz="1125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, </a:t>
            </a:r>
            <a:pPr indent="0" marL="0">
              <a:lnSpc>
                <a:spcPct val="125000"/>
              </a:lnSpc>
              <a:buNone/>
            </a:pPr>
            <a:r>
              <a:rPr lang="en-US" sz="1125" dirty="0">
                <a:solidFill>
                  <a:srgbClr val="38BDF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"patientName"</a:t>
            </a:r>
            <a:pPr indent="0" marL="0">
              <a:lnSpc>
                <a:spcPct val="125000"/>
              </a:lnSpc>
              <a:buNone/>
            </a:pPr>
            <a:r>
              <a:rPr lang="en-US" sz="1125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: </a:t>
            </a:r>
            <a:pPr indent="0" marL="0">
              <a:lnSpc>
                <a:spcPct val="125000"/>
              </a:lnSpc>
              <a:buNone/>
            </a:pPr>
            <a:r>
              <a:rPr lang="en-US" sz="1125" dirty="0">
                <a:solidFill>
                  <a:srgbClr val="F43F5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null</a:t>
            </a:r>
            <a:endParaRPr lang="en-US" sz="1125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125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</a:t>
            </a:r>
            <a:endParaRPr lang="en-US" sz="1125" dirty="0"/>
          </a:p>
          <a:p>
            <a:pPr indent="0" marL="0">
              <a:lnSpc>
                <a:spcPct val="125000"/>
              </a:lnSpc>
              <a:buNone/>
            </a:pPr>
            <a:endParaRPr lang="en-US" sz="1125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125" dirty="0">
                <a:solidFill>
                  <a:srgbClr val="64748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response data</a:t>
            </a:r>
            <a:endParaRPr lang="en-US" sz="1125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125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{</a:t>
            </a:r>
            <a:endParaRPr lang="en-US" sz="1125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125" dirty="0">
                <a:solidFill>
                  <a:srgbClr val="38BDF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"status"</a:t>
            </a:r>
            <a:pPr indent="0" marL="0">
              <a:lnSpc>
                <a:spcPct val="125000"/>
              </a:lnSpc>
              <a:buNone/>
            </a:pPr>
            <a:r>
              <a:rPr lang="en-US" sz="1125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: </a:t>
            </a:r>
            <a:pPr indent="0" marL="0">
              <a:lnSpc>
                <a:spcPct val="125000"/>
              </a:lnSpc>
              <a:buNone/>
            </a:pPr>
            <a:r>
              <a:rPr lang="en-US" sz="1125" dirty="0">
                <a:solidFill>
                  <a:srgbClr val="FBBF2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"REGISTERED"</a:t>
            </a:r>
            <a:pPr indent="0" marL="0">
              <a:lnSpc>
                <a:spcPct val="125000"/>
              </a:lnSpc>
              <a:buNone/>
            </a:pPr>
            <a:r>
              <a:rPr lang="en-US" sz="1125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,</a:t>
            </a:r>
            <a:endParaRPr lang="en-US" sz="1125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125" dirty="0">
                <a:solidFill>
                  <a:srgbClr val="38BDF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"labCode"</a:t>
            </a:r>
            <a:pPr indent="0" marL="0">
              <a:lnSpc>
                <a:spcPct val="125000"/>
              </a:lnSpc>
              <a:buNone/>
            </a:pPr>
            <a:r>
              <a:rPr lang="en-US" sz="1125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: </a:t>
            </a:r>
            <a:pPr indent="0" marL="0">
              <a:lnSpc>
                <a:spcPct val="125000"/>
              </a:lnSpc>
              <a:buNone/>
            </a:pPr>
            <a:r>
              <a:rPr lang="en-US" sz="1125" dirty="0">
                <a:solidFill>
                  <a:srgbClr val="FBBF2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"CPS"</a:t>
            </a:r>
            <a:pPr indent="0" marL="0">
              <a:lnSpc>
                <a:spcPct val="125000"/>
              </a:lnSpc>
              <a:buNone/>
            </a:pPr>
            <a:r>
              <a:rPr lang="en-US" sz="1125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,</a:t>
            </a:r>
            <a:endParaRPr lang="en-US" sz="1125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125" dirty="0">
                <a:solidFill>
                  <a:srgbClr val="38BDF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"testCode"</a:t>
            </a:r>
            <a:pPr indent="0" marL="0">
              <a:lnSpc>
                <a:spcPct val="125000"/>
              </a:lnSpc>
              <a:buNone/>
            </a:pPr>
            <a:r>
              <a:rPr lang="en-US" sz="1125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: </a:t>
            </a:r>
            <a:pPr indent="0" marL="0">
              <a:lnSpc>
                <a:spcPct val="125000"/>
              </a:lnSpc>
              <a:buNone/>
            </a:pPr>
            <a:r>
              <a:rPr lang="en-US" sz="1125" dirty="0">
                <a:solidFill>
                  <a:srgbClr val="FBBF2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"LFT"</a:t>
            </a:r>
            <a:endParaRPr lang="en-US" sz="1125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125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</a:t>
            </a:r>
            <a:endParaRPr lang="en-US" sz="1125" dirty="0"/>
          </a:p>
        </p:txBody>
      </p:sp>
      <p:sp>
        <p:nvSpPr>
          <p:cNvPr id="8" name="Shape 6"/>
          <p:cNvSpPr/>
          <p:nvPr/>
        </p:nvSpPr>
        <p:spPr>
          <a:xfrm>
            <a:off x="6781800" y="2318004"/>
            <a:ext cx="4800600" cy="884682"/>
          </a:xfrm>
          <a:prstGeom prst="roundRect">
            <a:avLst>
              <a:gd name="adj" fmla="val 12403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pic>
        <p:nvPicPr>
          <p:cNvPr id="9" name="Image 0" descr="D:\Github\HA-Notes\LIS\skills\design-review-pptx\assets\icons\png\accent\key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982968" y="2546604"/>
            <a:ext cx="219456" cy="219456"/>
          </a:xfrm>
          <a:prstGeom prst="rect">
            <a:avLst/>
          </a:prstGeom>
        </p:spPr>
      </p:pic>
      <p:sp>
        <p:nvSpPr>
          <p:cNvPr id="10" name="Text 7"/>
          <p:cNvSpPr/>
          <p:nvPr/>
        </p:nvSpPr>
        <p:spPr>
          <a:xfrm>
            <a:off x="7293864" y="2519172"/>
            <a:ext cx="40873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75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Gateway headers</a:t>
            </a:r>
            <a:endParaRPr lang="en-US" sz="1275" dirty="0"/>
          </a:p>
        </p:txBody>
      </p:sp>
      <p:sp>
        <p:nvSpPr>
          <p:cNvPr id="11" name="Text 8"/>
          <p:cNvSpPr/>
          <p:nvPr/>
        </p:nvSpPr>
        <p:spPr>
          <a:xfrm>
            <a:off x="6982968" y="2811780"/>
            <a:ext cx="4398264" cy="2446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25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x-gateway-apikey and x-ha-hospcode.</a:t>
            </a:r>
            <a:endParaRPr lang="en-US" sz="1125" dirty="0"/>
          </a:p>
        </p:txBody>
      </p:sp>
      <p:sp>
        <p:nvSpPr>
          <p:cNvPr id="12" name="Shape 9"/>
          <p:cNvSpPr/>
          <p:nvPr/>
        </p:nvSpPr>
        <p:spPr>
          <a:xfrm>
            <a:off x="6781800" y="3358134"/>
            <a:ext cx="4800600" cy="1056132"/>
          </a:xfrm>
          <a:prstGeom prst="roundRect">
            <a:avLst>
              <a:gd name="adj" fmla="val 10390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pic>
        <p:nvPicPr>
          <p:cNvPr id="13" name="Image 1" descr="D:\Github\HA-Notes\LIS\skills\design-review-pptx\assets\icons\png\accent\server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82968" y="3586734"/>
            <a:ext cx="219456" cy="219456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7293864" y="3559302"/>
            <a:ext cx="40873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75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Hospital sent skips the map</a:t>
            </a:r>
            <a:endParaRPr lang="en-US" sz="1275" dirty="0"/>
          </a:p>
        </p:txBody>
      </p:sp>
      <p:sp>
        <p:nvSpPr>
          <p:cNvPr id="15" name="Text 11"/>
          <p:cNvSpPr/>
          <p:nvPr/>
        </p:nvSpPr>
        <p:spPr>
          <a:xfrm>
            <a:off x="6982968" y="3851910"/>
            <a:ext cx="4398264" cy="4160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25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Sent: workbench only. Omitted: loesort_hosp. Hosp mismatch: Failure.</a:t>
            </a:r>
            <a:endParaRPr lang="en-US" sz="1125" dirty="0"/>
          </a:p>
        </p:txBody>
      </p:sp>
      <p:sp>
        <p:nvSpPr>
          <p:cNvPr id="16" name="Shape 12"/>
          <p:cNvSpPr/>
          <p:nvPr/>
        </p:nvSpPr>
        <p:spPr>
          <a:xfrm>
            <a:off x="6781800" y="4569714"/>
            <a:ext cx="4800600" cy="884682"/>
          </a:xfrm>
          <a:prstGeom prst="roundRect">
            <a:avLst>
              <a:gd name="adj" fmla="val 12403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pic>
        <p:nvPicPr>
          <p:cNvPr id="17" name="Image 2" descr="D:\Github\HA-Notes\LIS\skills\design-review-pptx\assets\icons\png\accent\triangle-exclamation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82968" y="4798314"/>
            <a:ext cx="219456" cy="219456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7293864" y="4770882"/>
            <a:ext cx="40873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75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Bin from data.status</a:t>
            </a:r>
            <a:endParaRPr lang="en-US" sz="1275" dirty="0"/>
          </a:p>
        </p:txBody>
      </p:sp>
      <p:sp>
        <p:nvSpPr>
          <p:cNvPr id="19" name="Text 14"/>
          <p:cNvSpPr/>
          <p:nvPr/>
        </p:nvSpPr>
        <p:spPr>
          <a:xfrm>
            <a:off x="6982968" y="5063490"/>
            <a:ext cx="4398264" cy="2446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25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HTTP 200 is not Registered. 500 means retry.</a:t>
            </a:r>
            <a:endParaRPr lang="en-US" sz="1125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09600" y="457200"/>
            <a:ext cx="10972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150" kern="0" dirty="0">
                <a:solidFill>
                  <a:srgbClr val="0284C7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04A. SORTER IDENTITY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609600" y="722376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User and workbench come from station name, not a PC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609600" y="2718816"/>
            <a:ext cx="5335524" cy="2334768"/>
          </a:xfrm>
          <a:prstGeom prst="roundRect">
            <a:avLst>
              <a:gd name="adj" fmla="val 4700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83920" y="3043428"/>
            <a:ext cx="1054989" cy="228600"/>
          </a:xfrm>
          <a:prstGeom prst="roundRect">
            <a:avLst>
              <a:gd name="adj" fmla="val 20000"/>
            </a:avLst>
          </a:prstGeom>
          <a:solidFill>
            <a:srgbClr val="F1F5F9"/>
          </a:solidFill>
          <a:ln>
            <a:solidFill>
              <a:srgbClr val="F1F5F9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75" b="1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STAFF TODAY</a:t>
            </a:r>
            <a:endParaRPr lang="en-US" sz="975" dirty="0"/>
          </a:p>
        </p:txBody>
      </p:sp>
      <p:sp>
        <p:nvSpPr>
          <p:cNvPr id="6" name="Text 4"/>
          <p:cNvSpPr/>
          <p:nvPr/>
        </p:nvSpPr>
        <p:spPr>
          <a:xfrm>
            <a:off x="2048637" y="3011424"/>
            <a:ext cx="3622167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Login decides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883920" y="3468624"/>
            <a:ext cx="4786884" cy="2087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User: </a:t>
            </a:r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staff LIS account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883920" y="3796284"/>
            <a:ext cx="4786884" cy="2087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Workbench: </a:t>
            </a:r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selectWorkbench by PC name or IP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883920" y="4123944"/>
            <a:ext cx="4786884" cy="2087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Retrieve GET: </a:t>
            </a:r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hard-codes user ltc611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6246876" y="2718816"/>
            <a:ext cx="5335524" cy="2334768"/>
          </a:xfrm>
          <a:prstGeom prst="roundRect">
            <a:avLst>
              <a:gd name="adj" fmla="val 4700"/>
            </a:avLst>
          </a:prstGeom>
          <a:solidFill>
            <a:srgbClr val="FFFFFF"/>
          </a:solidFill>
          <a:ln w="19050">
            <a:solidFill>
              <a:srgbClr val="0284C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521196" y="3043428"/>
            <a:ext cx="1054989" cy="228600"/>
          </a:xfrm>
          <a:prstGeom prst="roundRect">
            <a:avLst>
              <a:gd name="adj" fmla="val 20000"/>
            </a:avLst>
          </a:prstGeom>
          <a:solidFill>
            <a:srgbClr val="E0F2FE"/>
          </a:solidFill>
          <a:ln>
            <a:solidFill>
              <a:srgbClr val="E0F2FE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75" b="1" dirty="0">
                <a:solidFill>
                  <a:srgbClr val="0369A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SORTER POST</a:t>
            </a:r>
            <a:endParaRPr lang="en-US" sz="975" dirty="0"/>
          </a:p>
        </p:txBody>
      </p:sp>
      <p:sp>
        <p:nvSpPr>
          <p:cNvPr id="12" name="Text 10"/>
          <p:cNvSpPr/>
          <p:nvPr/>
        </p:nvSpPr>
        <p:spPr>
          <a:xfrm>
            <a:off x="7685913" y="3011424"/>
            <a:ext cx="3622167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Station name decides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6521196" y="3468624"/>
            <a:ext cx="4786884" cy="2087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User: </a:t>
            </a:r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wkbh_id (same as LIS usercode)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6521196" y="3796284"/>
            <a:ext cx="4786884" cy="2087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Workbench: </a:t>
            </a:r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wkbh_station_name = sorterId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6521196" y="4123944"/>
            <a:ext cx="4786884" cy="2087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Hospital sent: </a:t>
            </a:r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skip the map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6521196" y="4451604"/>
            <a:ext cx="4786884" cy="2087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Hospital omitted: </a:t>
            </a:r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loesort_hosp only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09600" y="457200"/>
            <a:ext cx="10972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150" kern="0" dirty="0">
                <a:solidFill>
                  <a:srgbClr val="0284C7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04B. DATA MODEL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609600" y="722376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Hospital sent: workbench only. Map is hospital fallback</a:t>
            </a:r>
            <a:endParaRPr lang="en-US" sz="24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09600" y="1773936"/>
          <a:ext cx="10972800" cy="914400"/>
        </p:xfrm>
        <a:graphic>
          <a:graphicData uri="http://schemas.openxmlformats.org/drawingml/2006/table">
            <a:tbl>
              <a:tblPr/>
              <a:tblGrid>
                <a:gridCol w="3108960"/>
                <a:gridCol w="2377440"/>
                <a:gridCol w="5486400"/>
              </a:tblGrid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b="1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Column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b="1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Type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b="1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Role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dirty="0">
                          <a:solidFill>
                            <a:srgbClr val="0284C7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wkbh_station_name</a:t>
                      </a:r>
                      <a:endParaRPr lang="en-US" sz="1125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dirty="0">
                          <a:solidFill>
                            <a:srgbClr val="475569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workbench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dirty="0">
                          <a:solidFill>
                            <a:srgbClr val="475569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Equals request sorterId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dirty="0">
                          <a:solidFill>
                            <a:srgbClr val="0284C7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wkbh_id</a:t>
                      </a:r>
                      <a:endParaRPr lang="en-US" sz="1125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dirty="0">
                          <a:solidFill>
                            <a:srgbClr val="475569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workbench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dirty="0">
                          <a:solidFill>
                            <a:srgbClr val="475569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LIS user; PK with wkbh_labno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dirty="0">
                          <a:solidFill>
                            <a:srgbClr val="0284C7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wkbh_hosp</a:t>
                      </a:r>
                      <a:endParaRPr lang="en-US" sz="1125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dirty="0">
                          <a:solidFill>
                            <a:srgbClr val="475569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workbench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dirty="0">
                          <a:solidFill>
                            <a:srgbClr val="475569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Must match request hospital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dirty="0">
                          <a:solidFill>
                            <a:srgbClr val="0284C7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loesort_sorter_id</a:t>
                      </a:r>
                      <a:endParaRPr lang="en-US" sz="1125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dirty="0">
                          <a:solidFill>
                            <a:srgbClr val="475569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VARCHAR2(64)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dirty="0">
                          <a:solidFill>
                            <a:srgbClr val="475569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Fallback map PK; omit-hospital only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dirty="0">
                          <a:solidFill>
                            <a:srgbClr val="0284C7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loesort_hosp</a:t>
                      </a:r>
                      <a:endParaRPr lang="en-US" sz="1125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dirty="0">
                          <a:solidFill>
                            <a:srgbClr val="475569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VARCHAR2(8)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dirty="0">
                          <a:solidFill>
                            <a:srgbClr val="475569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Fallback hospital when request omits it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609600" y="1773936"/>
            <a:ext cx="10972800" cy="2743200"/>
          </a:xfrm>
          <a:prstGeom prst="roundRect">
            <a:avLst>
              <a:gd name="adj" fmla="val 4000"/>
            </a:avLst>
          </a:prstGeom>
          <a:solidFill>
            <a:srgbClr val="FFFFFF">
              <a:alpha val="0"/>
            </a:srgbClr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609600" y="4791456"/>
            <a:ext cx="5335524" cy="1207008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883920" y="5029200"/>
            <a:ext cx="47868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One sorter, more than one lab</a:t>
            </a:r>
            <a:endParaRPr lang="en-US" sz="1350" dirty="0"/>
          </a:p>
        </p:txBody>
      </p:sp>
      <p:sp>
        <p:nvSpPr>
          <p:cNvPr id="8" name="Text 5"/>
          <p:cNvSpPr/>
          <p:nvPr/>
        </p:nvSpPr>
        <p:spPr>
          <a:xfrm>
            <a:off x="883920" y="5358384"/>
            <a:ext cx="478688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Seed one workbench row per lab, same station name and wkbh_id. Missing row is Failure (D12).</a:t>
            </a:r>
            <a:endParaRPr lang="en-US" sz="1200" dirty="0"/>
          </a:p>
        </p:txBody>
      </p:sp>
      <p:sp>
        <p:nvSpPr>
          <p:cNvPr id="9" name="Shape 6"/>
          <p:cNvSpPr/>
          <p:nvPr/>
        </p:nvSpPr>
        <p:spPr>
          <a:xfrm>
            <a:off x="6246876" y="4791456"/>
            <a:ext cx="5335524" cy="1207008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6521196" y="5029200"/>
            <a:ext cx="47868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Map is optional</a:t>
            </a:r>
            <a:endParaRPr lang="en-US" sz="1350" dirty="0"/>
          </a:p>
        </p:txBody>
      </p:sp>
      <p:sp>
        <p:nvSpPr>
          <p:cNvPr id="11" name="Text 8"/>
          <p:cNvSpPr/>
          <p:nvPr/>
        </p:nvSpPr>
        <p:spPr>
          <a:xfrm>
            <a:off x="6521196" y="5358384"/>
            <a:ext cx="478688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If every caller sends hospital, do not seed loe_specimen_sorter_map (D15).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09600" y="457200"/>
            <a:ext cx="10972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150" kern="0" dirty="0">
                <a:solidFill>
                  <a:srgbClr val="0284C7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04C. STATUS AND AUDIT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609600" y="722376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Only REGISTERED prints, and only after the response</a:t>
            </a:r>
            <a:endParaRPr lang="en-US" sz="24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09600" y="2743200"/>
          <a:ext cx="10972800" cy="914400"/>
        </p:xfrm>
        <a:graphic>
          <a:graphicData uri="http://schemas.openxmlformats.org/drawingml/2006/table">
            <a:tbl>
              <a:tblPr/>
              <a:tblGrid>
                <a:gridCol w="1920240"/>
                <a:gridCol w="3566160"/>
                <a:gridCol w="3566160"/>
                <a:gridCol w="1920240"/>
              </a:tblGrid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b="1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Status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b="1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Writes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b="1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Worksheet and PHLC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b="1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Sorter bin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b="1" dirty="0">
                          <a:solidFill>
                            <a:srgbClr val="15803D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REGISTERED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dirty="0">
                          <a:solidFill>
                            <a:srgbClr val="475569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Lab request, SORT_REG and REG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dirty="0">
                          <a:solidFill>
                            <a:srgbClr val="475569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All worksheets, then PHLC, after return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dirty="0">
                          <a:solidFill>
                            <a:srgbClr val="475569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In-house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b="1" dirty="0">
                          <a:solidFill>
                            <a:srgbClr val="0284C7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SEND_OUT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dirty="0">
                          <a:solidFill>
                            <a:srgbClr val="475569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Send-out, tracking, SORT_SO and SEND_OUT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dirty="0">
                          <a:solidFill>
                            <a:srgbClr val="64748B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None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dirty="0">
                          <a:solidFill>
                            <a:srgbClr val="475569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Send-out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b="1" dirty="0">
                          <a:solidFill>
                            <a:srgbClr val="B45309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RELABEL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dirty="0">
                          <a:solidFill>
                            <a:srgbClr val="475569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SORT_RELABEL only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dirty="0">
                          <a:solidFill>
                            <a:srgbClr val="64748B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None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dirty="0">
                          <a:solidFill>
                            <a:srgbClr val="475569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Staff Spec Ack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b="1" dirty="0">
                          <a:solidFill>
                            <a:srgbClr val="DC2626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FAILURE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dirty="0">
                          <a:solidFill>
                            <a:srgbClr val="475569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SORT_FAIL with message code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dirty="0">
                          <a:solidFill>
                            <a:srgbClr val="64748B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None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dirty="0">
                          <a:solidFill>
                            <a:srgbClr val="475569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Staff Spec Ack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609600" y="2743200"/>
            <a:ext cx="10972800" cy="2286000"/>
          </a:xfrm>
          <a:prstGeom prst="roundRect">
            <a:avLst>
              <a:gd name="adj" fmla="val 4800"/>
            </a:avLst>
          </a:prstGeom>
          <a:solidFill>
            <a:srgbClr val="FFFFFF">
              <a:alpha val="0"/>
            </a:srgbClr>
          </a:solidFill>
          <a:ln w="9525">
            <a:solidFill>
              <a:srgbClr val="E2E8F0"/>
            </a:solidFill>
            <a:prstDash val="solid"/>
          </a:ln>
        </p:spPr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09600" y="457200"/>
            <a:ext cx="10972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150" kern="0" dirty="0">
                <a:solidFill>
                  <a:srgbClr val="0284C7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05. NON-FUNCTIONAL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609600" y="722376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One synchronous call per tube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609600" y="3051810"/>
            <a:ext cx="3505200" cy="1668780"/>
          </a:xfrm>
          <a:prstGeom prst="roundRect">
            <a:avLst>
              <a:gd name="adj" fmla="val 6575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01040" y="3362706"/>
            <a:ext cx="3322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3900" dirty="0">
                <a:solidFill>
                  <a:srgbClr val="0284C7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&lt; 4 s</a:t>
            </a:r>
            <a:endParaRPr lang="en-US" sz="3900" dirty="0"/>
          </a:p>
        </p:txBody>
      </p:sp>
      <p:sp>
        <p:nvSpPr>
          <p:cNvPr id="6" name="Text 4"/>
          <p:cNvSpPr/>
          <p:nvPr/>
        </p:nvSpPr>
        <p:spPr>
          <a:xfrm>
            <a:off x="792480" y="3938778"/>
            <a:ext cx="313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p95 response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792480" y="4194810"/>
            <a:ext cx="3139440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Through audit commit, print excluded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4343400" y="3051810"/>
            <a:ext cx="3505200" cy="1668780"/>
          </a:xfrm>
          <a:prstGeom prst="roundRect">
            <a:avLst>
              <a:gd name="adj" fmla="val 6575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434840" y="3362706"/>
            <a:ext cx="3322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3900" dirty="0">
                <a:solidFill>
                  <a:srgbClr val="0284C7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~20/min</a:t>
            </a:r>
            <a:endParaRPr lang="en-US" sz="3900" dirty="0"/>
          </a:p>
        </p:txBody>
      </p:sp>
      <p:sp>
        <p:nvSpPr>
          <p:cNvPr id="10" name="Text 8"/>
          <p:cNvSpPr/>
          <p:nvPr/>
        </p:nvSpPr>
        <p:spPr>
          <a:xfrm>
            <a:off x="4526280" y="3938778"/>
            <a:ext cx="313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Per lab in v1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26280" y="4194810"/>
            <a:ext cx="3139440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One call per tube, sync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8077200" y="3051810"/>
            <a:ext cx="3505200" cy="1668780"/>
          </a:xfrm>
          <a:prstGeom prst="roundRect">
            <a:avLst>
              <a:gd name="adj" fmla="val 6575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168640" y="3362706"/>
            <a:ext cx="3322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3900" dirty="0">
                <a:solidFill>
                  <a:srgbClr val="0284C7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CPS, HMS</a:t>
            </a:r>
            <a:endParaRPr lang="en-US" sz="3900" dirty="0"/>
          </a:p>
        </p:txBody>
      </p:sp>
      <p:sp>
        <p:nvSpPr>
          <p:cNvPr id="14" name="Text 12"/>
          <p:cNvSpPr/>
          <p:nvPr/>
        </p:nvSpPr>
        <p:spPr>
          <a:xfrm>
            <a:off x="8260080" y="3938778"/>
            <a:ext cx="313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Labs on the order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8260080" y="4194810"/>
            <a:ext cx="3139440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APS, BBS and MBS return Failure</a:t>
            </a:r>
            <a:endParaRPr lang="en-US" sz="10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09600" y="457200"/>
            <a:ext cx="10972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150" kern="0" dirty="0">
                <a:solidFill>
                  <a:srgbClr val="0284C7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06. PROMOTION AND FALLBACK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609600" y="722376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Seed workbench, open the gateway path, pilot CPS and HMS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609600" y="2539032"/>
            <a:ext cx="5335524" cy="2694337"/>
          </a:xfrm>
          <a:prstGeom prst="roundRect">
            <a:avLst>
              <a:gd name="adj" fmla="val 4073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pic>
        <p:nvPicPr>
          <p:cNvPr id="5" name="Image 0" descr="D:\Github\HA-Notes\LIS\skills\design-review-pptx\assets\icons\png\success\cloud-arrow-up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83920" y="2845356"/>
            <a:ext cx="265176" cy="265176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1249680" y="2831640"/>
            <a:ext cx="442112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Promotion</a:t>
            </a:r>
            <a:endParaRPr lang="en-US" sz="1500" dirty="0"/>
          </a:p>
        </p:txBody>
      </p:sp>
      <p:sp>
        <p:nvSpPr>
          <p:cNvPr id="7" name="Text 4"/>
          <p:cNvSpPr/>
          <p:nvPr/>
        </p:nvSpPr>
        <p:spPr>
          <a:xfrm>
            <a:off x="883920" y="3261408"/>
            <a:ext cx="228600" cy="228600"/>
          </a:xfrm>
          <a:prstGeom prst="ellipse">
            <a:avLst/>
          </a:prstGeom>
          <a:solidFill>
            <a:srgbClr val="DCFCE7"/>
          </a:solidFill>
          <a:ln>
            <a:solidFill>
              <a:srgbClr val="DCFCE7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75" b="1" dirty="0">
                <a:solidFill>
                  <a:srgbClr val="15803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</a:t>
            </a:r>
            <a:endParaRPr lang="en-US" sz="975" dirty="0"/>
          </a:p>
        </p:txBody>
      </p:sp>
      <p:sp>
        <p:nvSpPr>
          <p:cNvPr id="8" name="Text 5"/>
          <p:cNvSpPr/>
          <p:nvPr/>
        </p:nvSpPr>
        <p:spPr>
          <a:xfrm>
            <a:off x="1222248" y="3288840"/>
            <a:ext cx="4448556" cy="19688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25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Seed workbench: station name = sorter id, user = wkbh_id.</a:t>
            </a:r>
            <a:endParaRPr lang="en-US" sz="1125" dirty="0"/>
          </a:p>
        </p:txBody>
      </p:sp>
      <p:sp>
        <p:nvSpPr>
          <p:cNvPr id="9" name="Text 6"/>
          <p:cNvSpPr/>
          <p:nvPr/>
        </p:nvSpPr>
        <p:spPr>
          <a:xfrm>
            <a:off x="883920" y="3595449"/>
            <a:ext cx="228600" cy="228600"/>
          </a:xfrm>
          <a:prstGeom prst="ellipse">
            <a:avLst/>
          </a:prstGeom>
          <a:solidFill>
            <a:srgbClr val="DCFCE7"/>
          </a:solidFill>
          <a:ln>
            <a:solidFill>
              <a:srgbClr val="DCFCE7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75" b="1" dirty="0">
                <a:solidFill>
                  <a:srgbClr val="15803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</a:t>
            </a:r>
            <a:endParaRPr lang="en-US" sz="975" dirty="0"/>
          </a:p>
        </p:txBody>
      </p:sp>
      <p:sp>
        <p:nvSpPr>
          <p:cNvPr id="10" name="Text 7"/>
          <p:cNvSpPr/>
          <p:nvPr/>
        </p:nvSpPr>
        <p:spPr>
          <a:xfrm>
            <a:off x="1222248" y="3622881"/>
            <a:ext cx="4448556" cy="19688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25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Map row only if hospital can be omitted.</a:t>
            </a:r>
            <a:endParaRPr lang="en-US" sz="1125" dirty="0"/>
          </a:p>
        </p:txBody>
      </p:sp>
      <p:sp>
        <p:nvSpPr>
          <p:cNvPr id="11" name="Text 8"/>
          <p:cNvSpPr/>
          <p:nvPr/>
        </p:nvSpPr>
        <p:spPr>
          <a:xfrm>
            <a:off x="883920" y="3929491"/>
            <a:ext cx="228600" cy="228600"/>
          </a:xfrm>
          <a:prstGeom prst="ellipse">
            <a:avLst/>
          </a:prstGeom>
          <a:solidFill>
            <a:srgbClr val="DCFCE7"/>
          </a:solidFill>
          <a:ln>
            <a:solidFill>
              <a:srgbClr val="DCFCE7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75" b="1" dirty="0">
                <a:solidFill>
                  <a:srgbClr val="15803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</a:t>
            </a:r>
            <a:endParaRPr lang="en-US" sz="975" dirty="0"/>
          </a:p>
        </p:txBody>
      </p:sp>
      <p:sp>
        <p:nvSpPr>
          <p:cNvPr id="12" name="Text 9"/>
          <p:cNvSpPr/>
          <p:nvPr/>
        </p:nvSpPr>
        <p:spPr>
          <a:xfrm>
            <a:off x="1222248" y="3956923"/>
            <a:ext cx="4448556" cy="19688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25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Deploy lis-crs-spec-ack-svc.</a:t>
            </a:r>
            <a:endParaRPr lang="en-US" sz="1125" dirty="0"/>
          </a:p>
        </p:txBody>
      </p:sp>
      <p:sp>
        <p:nvSpPr>
          <p:cNvPr id="13" name="Text 10"/>
          <p:cNvSpPr/>
          <p:nvPr/>
        </p:nvSpPr>
        <p:spPr>
          <a:xfrm>
            <a:off x="883920" y="4263533"/>
            <a:ext cx="228600" cy="228600"/>
          </a:xfrm>
          <a:prstGeom prst="ellipse">
            <a:avLst/>
          </a:prstGeom>
          <a:solidFill>
            <a:srgbClr val="DCFCE7"/>
          </a:solidFill>
          <a:ln>
            <a:solidFill>
              <a:srgbClr val="DCFCE7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75" b="1" dirty="0">
                <a:solidFill>
                  <a:srgbClr val="15803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</a:t>
            </a:r>
            <a:endParaRPr lang="en-US" sz="975" dirty="0"/>
          </a:p>
        </p:txBody>
      </p:sp>
      <p:sp>
        <p:nvSpPr>
          <p:cNvPr id="14" name="Text 11"/>
          <p:cNvSpPr/>
          <p:nvPr/>
        </p:nvSpPr>
        <p:spPr>
          <a:xfrm>
            <a:off x="1222248" y="4290965"/>
            <a:ext cx="4448556" cy="19688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25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Publish the APIM product and NetworkPolicy.</a:t>
            </a:r>
            <a:endParaRPr lang="en-US" sz="1125" dirty="0"/>
          </a:p>
        </p:txBody>
      </p:sp>
      <p:sp>
        <p:nvSpPr>
          <p:cNvPr id="15" name="Text 12"/>
          <p:cNvSpPr/>
          <p:nvPr/>
        </p:nvSpPr>
        <p:spPr>
          <a:xfrm>
            <a:off x="883920" y="4597575"/>
            <a:ext cx="228600" cy="228600"/>
          </a:xfrm>
          <a:prstGeom prst="ellipse">
            <a:avLst/>
          </a:prstGeom>
          <a:solidFill>
            <a:srgbClr val="DCFCE7"/>
          </a:solidFill>
          <a:ln>
            <a:solidFill>
              <a:srgbClr val="DCFCE7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75" b="1" dirty="0">
                <a:solidFill>
                  <a:srgbClr val="15803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</a:t>
            </a:r>
            <a:endParaRPr lang="en-US" sz="975" dirty="0"/>
          </a:p>
        </p:txBody>
      </p:sp>
      <p:sp>
        <p:nvSpPr>
          <p:cNvPr id="16" name="Text 13"/>
          <p:cNvSpPr/>
          <p:nvPr/>
        </p:nvSpPr>
        <p:spPr>
          <a:xfrm>
            <a:off x="1222248" y="4625007"/>
            <a:ext cx="4448556" cy="19688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25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Pilot CPS and HMS.</a:t>
            </a:r>
            <a:endParaRPr lang="en-US" sz="1125" dirty="0"/>
          </a:p>
        </p:txBody>
      </p:sp>
      <p:sp>
        <p:nvSpPr>
          <p:cNvPr id="17" name="Shape 14"/>
          <p:cNvSpPr/>
          <p:nvPr/>
        </p:nvSpPr>
        <p:spPr>
          <a:xfrm>
            <a:off x="6246876" y="2539032"/>
            <a:ext cx="5335524" cy="2694337"/>
          </a:xfrm>
          <a:prstGeom prst="roundRect">
            <a:avLst>
              <a:gd name="adj" fmla="val 4073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pic>
        <p:nvPicPr>
          <p:cNvPr id="18" name="Image 1" descr="D:\Github\HA-Notes\LIS\skills\design-review-pptx\assets\icons\png\danger\rotate-lef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21196" y="2845356"/>
            <a:ext cx="265176" cy="265176"/>
          </a:xfrm>
          <a:prstGeom prst="rect">
            <a:avLst/>
          </a:prstGeom>
        </p:spPr>
      </p:pic>
      <p:sp>
        <p:nvSpPr>
          <p:cNvPr id="19" name="Text 15"/>
          <p:cNvSpPr/>
          <p:nvPr/>
        </p:nvSpPr>
        <p:spPr>
          <a:xfrm>
            <a:off x="6886956" y="2831640"/>
            <a:ext cx="442112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Fallback</a:t>
            </a:r>
            <a:endParaRPr lang="en-US" sz="1500" dirty="0"/>
          </a:p>
        </p:txBody>
      </p:sp>
      <p:sp>
        <p:nvSpPr>
          <p:cNvPr id="20" name="Text 16"/>
          <p:cNvSpPr/>
          <p:nvPr/>
        </p:nvSpPr>
        <p:spPr>
          <a:xfrm>
            <a:off x="6521196" y="3261408"/>
            <a:ext cx="228600" cy="228600"/>
          </a:xfrm>
          <a:prstGeom prst="ellipse">
            <a:avLst/>
          </a:prstGeom>
          <a:solidFill>
            <a:srgbClr val="FEE2E2"/>
          </a:solidFill>
          <a:ln>
            <a:solidFill>
              <a:srgbClr val="FEE2E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75" b="1" dirty="0">
                <a:solidFill>
                  <a:srgbClr val="B91C1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</a:t>
            </a:r>
            <a:endParaRPr lang="en-US" sz="975" dirty="0"/>
          </a:p>
        </p:txBody>
      </p:sp>
      <p:sp>
        <p:nvSpPr>
          <p:cNvPr id="21" name="Text 17"/>
          <p:cNvSpPr/>
          <p:nvPr/>
        </p:nvSpPr>
        <p:spPr>
          <a:xfrm>
            <a:off x="6859524" y="3288840"/>
            <a:ext cx="4448556" cy="19688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25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Stop the middleware. Staff Spec Ack is unchanged.</a:t>
            </a:r>
            <a:endParaRPr lang="en-US" sz="1125" dirty="0"/>
          </a:p>
        </p:txBody>
      </p:sp>
      <p:sp>
        <p:nvSpPr>
          <p:cNvPr id="22" name="Text 18"/>
          <p:cNvSpPr/>
          <p:nvPr/>
        </p:nvSpPr>
        <p:spPr>
          <a:xfrm>
            <a:off x="6521196" y="3595449"/>
            <a:ext cx="228600" cy="228600"/>
          </a:xfrm>
          <a:prstGeom prst="ellipse">
            <a:avLst/>
          </a:prstGeom>
          <a:solidFill>
            <a:srgbClr val="FEE2E2"/>
          </a:solidFill>
          <a:ln>
            <a:solidFill>
              <a:srgbClr val="FEE2E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75" b="1" dirty="0">
                <a:solidFill>
                  <a:srgbClr val="B91C1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</a:t>
            </a:r>
            <a:endParaRPr lang="en-US" sz="975" dirty="0"/>
          </a:p>
        </p:txBody>
      </p:sp>
      <p:sp>
        <p:nvSpPr>
          <p:cNvPr id="23" name="Text 19"/>
          <p:cNvSpPr/>
          <p:nvPr/>
        </p:nvSpPr>
        <p:spPr>
          <a:xfrm>
            <a:off x="6859524" y="3622881"/>
            <a:ext cx="4448556" cy="19688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25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Drop the map table if it was created.</a:t>
            </a:r>
            <a:endParaRPr lang="en-US" sz="1125" dirty="0"/>
          </a:p>
        </p:txBody>
      </p:sp>
      <p:sp>
        <p:nvSpPr>
          <p:cNvPr id="24" name="Text 20"/>
          <p:cNvSpPr/>
          <p:nvPr/>
        </p:nvSpPr>
        <p:spPr>
          <a:xfrm>
            <a:off x="6521196" y="3929491"/>
            <a:ext cx="228600" cy="228600"/>
          </a:xfrm>
          <a:prstGeom prst="ellipse">
            <a:avLst/>
          </a:prstGeom>
          <a:solidFill>
            <a:srgbClr val="FEE2E2"/>
          </a:solidFill>
          <a:ln>
            <a:solidFill>
              <a:srgbClr val="FEE2E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75" b="1" dirty="0">
                <a:solidFill>
                  <a:srgbClr val="B91C1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</a:t>
            </a:r>
            <a:endParaRPr lang="en-US" sz="975" dirty="0"/>
          </a:p>
        </p:txBody>
      </p:sp>
      <p:sp>
        <p:nvSpPr>
          <p:cNvPr id="25" name="Text 21"/>
          <p:cNvSpPr/>
          <p:nvPr/>
        </p:nvSpPr>
        <p:spPr>
          <a:xfrm>
            <a:off x="6859524" y="3956923"/>
            <a:ext cx="4448556" cy="19688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25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 conversion of historical requests.</a:t>
            </a:r>
            <a:endParaRPr lang="en-US" sz="1125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090D1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2237232" y="3014282"/>
            <a:ext cx="771753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50" spc="150" kern="0" dirty="0">
                <a:solidFill>
                  <a:srgbClr val="38BDF8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DISCUSSION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2237232" y="3361754"/>
            <a:ext cx="7717536" cy="48196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3300" dirty="0">
                <a:solidFill>
                  <a:srgbClr val="FFFFF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Q&amp;A</a:t>
            </a:r>
            <a:endParaRPr lang="en-US" sz="3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Hospital Authority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Specimen Sorter API</dc:title>
  <dc:subject>lis-crs-spec-ack-svc - one POST to send out or register a tube by USID</dc:subject>
  <dc:creator>Ka</dc:creator>
  <cp:lastModifiedBy>Ka</cp:lastModifiedBy>
  <cp:revision>1</cp:revision>
  <dcterms:created xsi:type="dcterms:W3CDTF">2026-09-22T03:30:50Z</dcterms:created>
  <dcterms:modified xsi:type="dcterms:W3CDTF">2026-09-22T03:30:50Z</dcterms:modified>
</cp:coreProperties>
</file>