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Tony Chong reviewed the design on 10 Sep. Since then: no lab on the map (14 Sep), HA APIM as the consumer (15 Sep), and the map PK / column lengths (21 Sep). The Change Request key still has to be created by hand.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Spend the time on the four statuses and the sorter map. Those are the decisions.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Middleware cannot call the staff register endpoint on its own, because the packing is built on the screen first. That is why there is a new API.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service only runs the writes. The second column is what moves behind the POST.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new service and no DDL on workbench. Staff Spec Ack stays as the Relabel and Failure bin.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tube with both local and send-out tests fails rather than splitting (D3). Relabel is not reported as Failure.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hosts and headers as the GCRS-LIS API specification v1.0, but a new APIM product. Business failure codes sit on data.code, never as an HTTP 4xx from LIS.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sorter must never use the retrieve GET, because of the hard-coded user. Audit rows carry the map user and the workbench station name.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Rollback is DROP TABLE. No loesort_key. Location, station name and printer stay on workbench.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late worksheet does not change a status already returned (D4). Print failure is an ALS warning, nothing more.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Print sits outside the 4 second budget, which is why it runs after the response.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Confirm the Audit Trail filter shows SORT_* before the pilot, or staff cannot find the sorter's attempts.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D1 to D12 and D14 are answered. D13 is the only open design point; the other two are delivery.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Likely questions: why not let middleware call the staff register; why hospital can be omitted; why mixed tubes fail; why server name is not on the map.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date is the end of promotion preparation. Submission is June and pilot July 2027 per the project plan.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90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58952" y="2113217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CP3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1181862" y="2227517"/>
            <a:ext cx="301752" cy="10973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02486" y="2113217"/>
            <a:ext cx="997991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DESIGN REVIEW  ·  21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758952" y="2478977"/>
            <a:ext cx="9098280" cy="554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39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Specimen Sorter API</a:t>
            </a:r>
            <a:endParaRPr lang="en-US" sz="3900" dirty="0"/>
          </a:p>
        </p:txBody>
      </p:sp>
      <p:sp>
        <p:nvSpPr>
          <p:cNvPr id="6" name="Text 4"/>
          <p:cNvSpPr/>
          <p:nvPr/>
        </p:nvSpPr>
        <p:spPr>
          <a:xfrm>
            <a:off x="758952" y="3216593"/>
            <a:ext cx="6583680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Sorter middleware calls one POST on lis-crs-spec-ack-svc. It sends out or registers the tube by USID, with the checks and packing Specimen Acknowledgement runs today.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58952" y="4315016"/>
            <a:ext cx="16337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758952" y="4525328"/>
            <a:ext cx="16337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lis-crs-spec-ack-svc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648712" y="4315016"/>
            <a:ext cx="10973" cy="38404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904744" y="4315016"/>
            <a:ext cx="6431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CHANGE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904744" y="4525328"/>
            <a:ext cx="643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TMP-000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803904" y="4315016"/>
            <a:ext cx="10973" cy="38404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059936" y="4315016"/>
            <a:ext cx="9479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TARGET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059936" y="4525328"/>
            <a:ext cx="947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 May 2027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263896" y="4315016"/>
            <a:ext cx="10973" cy="38404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519928" y="4315016"/>
            <a:ext cx="12527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STATUS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5519928" y="4525328"/>
            <a:ext cx="12527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Design approved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7028688" y="4315016"/>
            <a:ext cx="10973" cy="38404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284720" y="4315016"/>
            <a:ext cx="9098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PRESENTERS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284720" y="4525328"/>
            <a:ext cx="9098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Ka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450580" y="4315016"/>
            <a:ext cx="10973" cy="38404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706612" y="4315016"/>
            <a:ext cx="17099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REVIEWERS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8706612" y="4525328"/>
            <a:ext cx="1709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Tony Chong, CP3 panel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AGENDA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this review covers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1371600"/>
            <a:ext cx="10972800" cy="716280"/>
          </a:xfrm>
          <a:prstGeom prst="roundRect">
            <a:avLst>
              <a:gd name="adj" fmla="val 1531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7344" y="1371600"/>
            <a:ext cx="502920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341120" y="1473708"/>
            <a:ext cx="100035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Background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1341120" y="1738884"/>
            <a:ext cx="10003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Staff clicks today, sorter calls tomorrow</a:t>
            </a:r>
            <a:endParaRPr lang="en-US" sz="1125" dirty="0"/>
          </a:p>
        </p:txBody>
      </p:sp>
      <p:sp>
        <p:nvSpPr>
          <p:cNvPr id="8" name="Shape 6"/>
          <p:cNvSpPr/>
          <p:nvPr/>
        </p:nvSpPr>
        <p:spPr>
          <a:xfrm>
            <a:off x="609600" y="2234184"/>
            <a:ext cx="10972800" cy="716280"/>
          </a:xfrm>
          <a:prstGeom prst="roundRect">
            <a:avLst>
              <a:gd name="adj" fmla="val 1531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47344" y="2234184"/>
            <a:ext cx="502920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02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341120" y="2336292"/>
            <a:ext cx="100035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Existing design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1341120" y="2601468"/>
            <a:ext cx="10003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the Spec Ack screen owns</a:t>
            </a:r>
            <a:endParaRPr lang="en-US" sz="1125" dirty="0"/>
          </a:p>
        </p:txBody>
      </p:sp>
      <p:sp>
        <p:nvSpPr>
          <p:cNvPr id="12" name="Shape 10"/>
          <p:cNvSpPr/>
          <p:nvPr/>
        </p:nvSpPr>
        <p:spPr>
          <a:xfrm>
            <a:off x="609600" y="3096768"/>
            <a:ext cx="10972800" cy="716280"/>
          </a:xfrm>
          <a:prstGeom prst="roundRect">
            <a:avLst>
              <a:gd name="adj" fmla="val 1531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47344" y="3096768"/>
            <a:ext cx="502920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341120" y="3198876"/>
            <a:ext cx="100035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Proposed change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1341120" y="3464052"/>
            <a:ext cx="10003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POST, four outcomes</a:t>
            </a:r>
            <a:endParaRPr lang="en-US" sz="1125" dirty="0"/>
          </a:p>
        </p:txBody>
      </p:sp>
      <p:sp>
        <p:nvSpPr>
          <p:cNvPr id="16" name="Shape 14"/>
          <p:cNvSpPr/>
          <p:nvPr/>
        </p:nvSpPr>
        <p:spPr>
          <a:xfrm>
            <a:off x="609600" y="3959352"/>
            <a:ext cx="10972800" cy="716280"/>
          </a:xfrm>
          <a:prstGeom prst="roundRect">
            <a:avLst>
              <a:gd name="adj" fmla="val 1531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7344" y="3959352"/>
            <a:ext cx="502920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341120" y="4061460"/>
            <a:ext cx="100035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API contract and data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1341120" y="4326636"/>
            <a:ext cx="10003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APIM call, sorter map, audit</a:t>
            </a:r>
            <a:endParaRPr lang="en-US" sz="1125" dirty="0"/>
          </a:p>
        </p:txBody>
      </p:sp>
      <p:sp>
        <p:nvSpPr>
          <p:cNvPr id="20" name="Shape 18"/>
          <p:cNvSpPr/>
          <p:nvPr/>
        </p:nvSpPr>
        <p:spPr>
          <a:xfrm>
            <a:off x="609600" y="4821936"/>
            <a:ext cx="10972800" cy="716280"/>
          </a:xfrm>
          <a:prstGeom prst="roundRect">
            <a:avLst>
              <a:gd name="adj" fmla="val 1531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47344" y="4821936"/>
            <a:ext cx="502920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05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341120" y="4924044"/>
            <a:ext cx="100035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Promotion and fallback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1341120" y="5189220"/>
            <a:ext cx="10003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Seed, deploy, pilot, roll back</a:t>
            </a:r>
            <a:endParaRPr lang="en-US" sz="1125" dirty="0"/>
          </a:p>
        </p:txBody>
      </p:sp>
      <p:sp>
        <p:nvSpPr>
          <p:cNvPr id="24" name="Shape 22"/>
          <p:cNvSpPr/>
          <p:nvPr/>
        </p:nvSpPr>
        <p:spPr>
          <a:xfrm>
            <a:off x="609600" y="5684520"/>
            <a:ext cx="10972800" cy="716280"/>
          </a:xfrm>
          <a:prstGeom prst="roundRect">
            <a:avLst>
              <a:gd name="adj" fmla="val 1531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47344" y="5684520"/>
            <a:ext cx="502920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06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1341120" y="5786628"/>
            <a:ext cx="100035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 questions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1341120" y="6051804"/>
            <a:ext cx="10003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to settle before SIT</a:t>
            </a:r>
            <a:endParaRPr lang="en-US" sz="1125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01. BACKGROUND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Staff scan and click today. The sorter will call LIS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882646"/>
            <a:ext cx="5335524" cy="2007108"/>
          </a:xfrm>
          <a:prstGeom prst="roundRect">
            <a:avLst>
              <a:gd name="adj" fmla="val 546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3207258"/>
            <a:ext cx="609219" cy="228600"/>
          </a:xfrm>
          <a:prstGeom prst="roundRect">
            <a:avLst>
              <a:gd name="adj" fmla="val 20000"/>
            </a:avLst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AS-IS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1602867" y="3175254"/>
            <a:ext cx="406793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Staff scan and press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83920" y="363245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Specimen Acknowledgement in lab-crs-app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83920" y="396011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Action: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scan the label, then Send-out or Register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83920" y="428777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Checks and packing: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run on the screen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46876" y="2882646"/>
            <a:ext cx="5335524" cy="2007108"/>
          </a:xfrm>
          <a:prstGeom prst="roundRect">
            <a:avLst>
              <a:gd name="adj" fmla="val 5467"/>
            </a:avLst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21196" y="3207258"/>
            <a:ext cx="609219" cy="228600"/>
          </a:xfrm>
          <a:prstGeom prst="roundRect">
            <a:avLst>
              <a:gd name="adj" fmla="val 20000"/>
            </a:avLst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TO-BE</a:t>
            </a:r>
            <a:endParaRPr lang="en-US" sz="975" dirty="0"/>
          </a:p>
        </p:txBody>
      </p:sp>
      <p:sp>
        <p:nvSpPr>
          <p:cNvPr id="12" name="Text 10"/>
          <p:cNvSpPr/>
          <p:nvPr/>
        </p:nvSpPr>
        <p:spPr>
          <a:xfrm>
            <a:off x="7240143" y="3175254"/>
            <a:ext cx="406793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Sorter scans, LIS decides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21196" y="363245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sorter middleware through HA APIM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521196" y="396011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Action: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POST with the USID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521196" y="428777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Result: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status on the same call, sorter bins the tube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02. EXISTING DESIGN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Spec Ack screen owns validation and packing</a:t>
            </a:r>
            <a:endParaRPr lang="en-US" sz="2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600" y="2286000"/>
          <a:ext cx="109728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926080"/>
                <a:gridCol w="3200400"/>
                <a:gridCol w="301752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Action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Screen does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Service does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Sorter API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Retrieve GCRS order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Scans USID, calls retrieve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retrieveGcrOrder (GET hard-codes ltc611)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Retrieve as the mapped user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Send-out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Staff click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sendOutSpecimen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Same send-out path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Validation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Soft prompts, hard validator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Assumes checks passed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Soft to ALS, hard to Failure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Packing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Groups tests, request no., ward and doctor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register() needs the packing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Server-side convertor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Worksheet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Builds Ro, staff pick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Three print methods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Print all, after Registered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PHLC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Calls after register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createPhlcLabOrder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After Registered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09600" y="2286000"/>
            <a:ext cx="10972800" cy="3200400"/>
          </a:xfrm>
          <a:prstGeom prst="roundRect">
            <a:avLst>
              <a:gd name="adj" fmla="val 3429"/>
            </a:avLst>
          </a:prstGeom>
          <a:solidFill>
            <a:srgbClr val="FFFFFF">
              <a:alpha val="0"/>
            </a:srgbClr>
          </a:solidFill>
          <a:ln w="9525">
            <a:solidFill>
              <a:srgbClr val="E2E8F0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03. PROPOSED CHANGE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One POST, the screen logic behind it, one map table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848832"/>
            <a:ext cx="2599182" cy="2074735"/>
          </a:xfrm>
          <a:prstGeom prst="roundRect">
            <a:avLst>
              <a:gd name="adj" fmla="val 528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5" name="Image 0" descr="D:\Github\HA-Notes\LIS\skills\design-review-pptx\assets\icons\png\accent\co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7344" y="3132296"/>
            <a:ext cx="265176" cy="26517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47344" y="3589496"/>
            <a:ext cx="2123694" cy="1971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New API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847344" y="3878104"/>
            <a:ext cx="2123694" cy="9028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POST /api/sorter/auto-register on lis-crs-spec-ack-svc. Staff /api/specack is unchanged.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400806" y="2848832"/>
            <a:ext cx="2599182" cy="2074735"/>
          </a:xfrm>
          <a:prstGeom prst="roundRect">
            <a:avLst>
              <a:gd name="adj" fmla="val 528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9" name="Image 1" descr="D:\Github\HA-Notes\LIS\skills\design-review-pptx\assets\icons\png\accent\layer-grou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8550" y="3132296"/>
            <a:ext cx="265176" cy="265176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3638550" y="3589496"/>
            <a:ext cx="2123694" cy="1971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Move screen logic</a:t>
            </a:r>
            <a:endParaRPr lang="en-US" sz="1350" dirty="0"/>
          </a:p>
        </p:txBody>
      </p:sp>
      <p:sp>
        <p:nvSpPr>
          <p:cNvPr id="11" name="Text 7"/>
          <p:cNvSpPr/>
          <p:nvPr/>
        </p:nvSpPr>
        <p:spPr>
          <a:xfrm>
            <a:off x="3638550" y="3878104"/>
            <a:ext cx="2123694" cy="9028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Retrieve, validation and packing run server-side, then the existing send-out, register, print and PHLC.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6192012" y="2848832"/>
            <a:ext cx="2599182" cy="2074735"/>
          </a:xfrm>
          <a:prstGeom prst="roundRect">
            <a:avLst>
              <a:gd name="adj" fmla="val 528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3" name="Image 2" descr="D:\Github\HA-Notes\LIS\skills\design-review-pptx\assets\icons\png\accent\tabl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9756" y="3132296"/>
            <a:ext cx="265176" cy="265176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429756" y="3589496"/>
            <a:ext cx="2123694" cy="1971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Sorter map</a:t>
            </a:r>
            <a:endParaRPr lang="en-US" sz="1350" dirty="0"/>
          </a:p>
        </p:txBody>
      </p:sp>
      <p:sp>
        <p:nvSpPr>
          <p:cNvPr id="15" name="Text 10"/>
          <p:cNvSpPr/>
          <p:nvPr/>
        </p:nvSpPr>
        <p:spPr>
          <a:xfrm>
            <a:off x="6429756" y="3878104"/>
            <a:ext cx="2123694" cy="9028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loe_specimen_sorter_map: sorter id (PK) to LIS user, hospital and workbench. No lab. No server name.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8983218" y="2848832"/>
            <a:ext cx="2599182" cy="2074735"/>
          </a:xfrm>
          <a:prstGeom prst="roundRect">
            <a:avLst>
              <a:gd name="adj" fmla="val 528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7" name="Image 3" descr="D:\Github\HA-Notes\LIS\skills\design-review-pptx\assets\icons\png\accent\clipboard-chec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20962" y="3132296"/>
            <a:ext cx="265176" cy="265176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9220962" y="3589496"/>
            <a:ext cx="2123694" cy="1971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Audit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9220962" y="3878104"/>
            <a:ext cx="2123694" cy="9028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SORT_* actions plus today's REG and SEND_OUT on LOE_AUDIT_TRAIL.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03A. OUTCOME FLOW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Every tube ends in one of four statuses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09600" y="1965960"/>
            <a:ext cx="155448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USID + sorterId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255520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48712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Checks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pass?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590544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83152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843272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33544" y="20848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5236464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Relabel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rules?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178296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70904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431024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21296" y="20848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824216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All tests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send-out?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766048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058656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10018776" y="2359152"/>
            <a:ext cx="274320" cy="219456"/>
          </a:xfrm>
          <a:prstGeom prst="rightArrow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909048" y="20848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10338816" y="1965960"/>
            <a:ext cx="1243584" cy="1005840"/>
          </a:xfrm>
          <a:prstGeom prst="roundRect">
            <a:avLst>
              <a:gd name="adj" fmla="val 10909"/>
            </a:avLst>
          </a:prstGeom>
          <a:solidFill>
            <a:srgbClr val="0369A1"/>
          </a:solidFill>
          <a:ln w="9525">
            <a:solidFill>
              <a:srgbClr val="0369A1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REGISTERED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2648712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831592" y="3803904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FAILURE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2831592" y="40873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Unknown sorter, lab, mixed, hard check, 4422</a:t>
            </a:r>
            <a:endParaRPr lang="en-US" sz="1125" dirty="0"/>
          </a:p>
        </p:txBody>
      </p:sp>
      <p:sp>
        <p:nvSpPr>
          <p:cNvPr id="25" name="Shape 23"/>
          <p:cNvSpPr/>
          <p:nvPr/>
        </p:nvSpPr>
        <p:spPr>
          <a:xfrm>
            <a:off x="5236464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419344" y="3803904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RELABEL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419344" y="40873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Multi-group, suffix, DFT time flag</a:t>
            </a:r>
            <a:endParaRPr lang="en-US" sz="1125" dirty="0"/>
          </a:p>
        </p:txBody>
      </p:sp>
      <p:sp>
        <p:nvSpPr>
          <p:cNvPr id="28" name="Shape 26"/>
          <p:cNvSpPr/>
          <p:nvPr/>
        </p:nvSpPr>
        <p:spPr>
          <a:xfrm>
            <a:off x="7824216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007096" y="3803904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SEND_OUT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8007096" y="40873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Existing send-out, no print</a:t>
            </a:r>
            <a:endParaRPr lang="en-US" sz="1125" dirty="0"/>
          </a:p>
        </p:txBody>
      </p:sp>
      <p:sp>
        <p:nvSpPr>
          <p:cNvPr id="31" name="Shape 29"/>
          <p:cNvSpPr/>
          <p:nvPr/>
        </p:nvSpPr>
        <p:spPr>
          <a:xfrm>
            <a:off x="609600" y="5257800"/>
            <a:ext cx="10972800" cy="868680"/>
          </a:xfrm>
          <a:prstGeom prst="roundRect">
            <a:avLst>
              <a:gd name="adj" fmla="val 12632"/>
            </a:avLst>
          </a:prstGeom>
          <a:solidFill>
            <a:srgbClr val="0F172A"/>
          </a:solidFill>
          <a:ln w="9525">
            <a:solidFill>
              <a:srgbClr val="1E293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83920" y="542239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spc="120" kern="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RETURNED ON DATA.STATUS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883920" y="5669280"/>
            <a:ext cx="6949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REGISTERED | SEND_OUT | RELABEL | FAILURE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8016240" y="544068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HTTP 200 on every decision. Soft alerts go to ALS, never the body.</a:t>
            </a:r>
            <a:endParaRPr lang="en-US" sz="1125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04. API CONTRACT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Middleware calls through HA APIM with a gateway key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203704"/>
            <a:ext cx="5870448" cy="3364992"/>
          </a:xfrm>
          <a:prstGeom prst="roundRect">
            <a:avLst>
              <a:gd name="adj" fmla="val 3261"/>
            </a:avLst>
          </a:prstGeom>
          <a:solidFill>
            <a:srgbClr val="0F172A"/>
          </a:solidFill>
          <a:ln w="9525">
            <a:solidFill>
              <a:srgbClr val="1E293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7344" y="2423160"/>
            <a:ext cx="4754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7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/api/sorter/auto-register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5657088" y="2423160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JSON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47344" y="2715768"/>
            <a:ext cx="5394960" cy="2670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request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"usid"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"QHSP2500000012"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"sorterId"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"KTH-SORTER-01"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"hospital"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"QEH"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"hkid"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43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null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"patientName"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43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null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response data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"status"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"REGISTERED"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25" dirty="0"/>
          </a:p>
        </p:txBody>
      </p:sp>
      <p:sp>
        <p:nvSpPr>
          <p:cNvPr id="8" name="Shape 6"/>
          <p:cNvSpPr/>
          <p:nvPr/>
        </p:nvSpPr>
        <p:spPr>
          <a:xfrm>
            <a:off x="6781800" y="2403729"/>
            <a:ext cx="4800600" cy="884682"/>
          </a:xfrm>
          <a:prstGeom prst="roundRect">
            <a:avLst>
              <a:gd name="adj" fmla="val 1240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9" name="Image 0" descr="D:\Github\HA-Notes\LIS\skills\design-review-pptx\assets\icons\png\accent\ke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82968" y="2632329"/>
            <a:ext cx="219456" cy="219456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7293864" y="2604897"/>
            <a:ext cx="4087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75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Gateway headers</a:t>
            </a:r>
            <a:endParaRPr lang="en-US" sz="1275" dirty="0"/>
          </a:p>
        </p:txBody>
      </p:sp>
      <p:sp>
        <p:nvSpPr>
          <p:cNvPr id="11" name="Text 8"/>
          <p:cNvSpPr/>
          <p:nvPr/>
        </p:nvSpPr>
        <p:spPr>
          <a:xfrm>
            <a:off x="6982968" y="2897505"/>
            <a:ext cx="4398264" cy="244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x-gateway-apikey and x-ha-hospcode. No Hub JWT.</a:t>
            </a:r>
            <a:endParaRPr lang="en-US" sz="1125" dirty="0"/>
          </a:p>
        </p:txBody>
      </p:sp>
      <p:sp>
        <p:nvSpPr>
          <p:cNvPr id="12" name="Shape 9"/>
          <p:cNvSpPr/>
          <p:nvPr/>
        </p:nvSpPr>
        <p:spPr>
          <a:xfrm>
            <a:off x="6781800" y="3443859"/>
            <a:ext cx="4800600" cy="884682"/>
          </a:xfrm>
          <a:prstGeom prst="roundRect">
            <a:avLst>
              <a:gd name="adj" fmla="val 1240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3" name="Image 1" descr="D:\Github\HA-Notes\LIS\skills\design-review-pptx\assets\icons\png\accent\serv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82968" y="3672459"/>
            <a:ext cx="219456" cy="219456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93864" y="3645027"/>
            <a:ext cx="4087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75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Hospital is optional</a:t>
            </a:r>
            <a:endParaRPr lang="en-US" sz="1275" dirty="0"/>
          </a:p>
        </p:txBody>
      </p:sp>
      <p:sp>
        <p:nvSpPr>
          <p:cNvPr id="15" name="Text 11"/>
          <p:cNvSpPr/>
          <p:nvPr/>
        </p:nvSpPr>
        <p:spPr>
          <a:xfrm>
            <a:off x="6982968" y="3937635"/>
            <a:ext cx="4398264" cy="244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Omitted: loesort_hosp. Different from the map: Failure.</a:t>
            </a:r>
            <a:endParaRPr lang="en-US" sz="1125" dirty="0"/>
          </a:p>
        </p:txBody>
      </p:sp>
      <p:sp>
        <p:nvSpPr>
          <p:cNvPr id="16" name="Shape 12"/>
          <p:cNvSpPr/>
          <p:nvPr/>
        </p:nvSpPr>
        <p:spPr>
          <a:xfrm>
            <a:off x="6781800" y="4483989"/>
            <a:ext cx="4800600" cy="884682"/>
          </a:xfrm>
          <a:prstGeom prst="roundRect">
            <a:avLst>
              <a:gd name="adj" fmla="val 1240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7" name="Image 2" descr="D:\Github\HA-Notes\LIS\skills\design-review-pptx\assets\icons\png\accent\triangle-exclamatio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82968" y="4712589"/>
            <a:ext cx="219456" cy="219456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7293864" y="4685157"/>
            <a:ext cx="4087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75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Bin from data.status</a:t>
            </a:r>
            <a:endParaRPr lang="en-US" sz="1275" dirty="0"/>
          </a:p>
        </p:txBody>
      </p:sp>
      <p:sp>
        <p:nvSpPr>
          <p:cNvPr id="19" name="Text 14"/>
          <p:cNvSpPr/>
          <p:nvPr/>
        </p:nvSpPr>
        <p:spPr>
          <a:xfrm>
            <a:off x="6982968" y="4977765"/>
            <a:ext cx="4398264" cy="244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HTTP 200 is not Registered. 500 means retry.</a:t>
            </a:r>
            <a:endParaRPr lang="en-US" sz="1125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04A. SORTER IDENTITY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User and workbench come from the sorter id, not a PC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718816"/>
            <a:ext cx="5335524" cy="2334768"/>
          </a:xfrm>
          <a:prstGeom prst="roundRect">
            <a:avLst>
              <a:gd name="adj" fmla="val 47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3043428"/>
            <a:ext cx="1054989" cy="228600"/>
          </a:xfrm>
          <a:prstGeom prst="roundRect">
            <a:avLst>
              <a:gd name="adj" fmla="val 20000"/>
            </a:avLst>
          </a:prstGeom>
          <a:solidFill>
            <a:srgbClr val="F1F5F9"/>
          </a:solidFill>
          <a:ln>
            <a:solidFill>
              <a:srgbClr val="F1F5F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STAFF TODAY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2048637" y="3011424"/>
            <a:ext cx="36221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Login decides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83920" y="346862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User: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staff LIS account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83920" y="379628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Workbench: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selectWorkbench by PC name or IP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83920" y="412394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Retrieve GET: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hard-codes user ltc611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46876" y="2718816"/>
            <a:ext cx="5335524" cy="2334768"/>
          </a:xfrm>
          <a:prstGeom prst="roundRect">
            <a:avLst>
              <a:gd name="adj" fmla="val 4700"/>
            </a:avLst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21196" y="3043428"/>
            <a:ext cx="1054989" cy="228600"/>
          </a:xfrm>
          <a:prstGeom prst="roundRect">
            <a:avLst>
              <a:gd name="adj" fmla="val 20000"/>
            </a:avLst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SORTER POST</a:t>
            </a:r>
            <a:endParaRPr lang="en-US" sz="975" dirty="0"/>
          </a:p>
        </p:txBody>
      </p:sp>
      <p:sp>
        <p:nvSpPr>
          <p:cNvPr id="12" name="Text 10"/>
          <p:cNvSpPr/>
          <p:nvPr/>
        </p:nvSpPr>
        <p:spPr>
          <a:xfrm>
            <a:off x="7685913" y="3011424"/>
            <a:ext cx="36221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Sorter id decides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21196" y="346862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User: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loesort_usercode on the map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521196" y="379628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Workbench: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map wkbh_id plus the order's lab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521196" y="412394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Hospital: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request value, else loesort_hosp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521196" y="445160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Server: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HospitalService from hosp and lab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04B. DATA MODEL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Sorter id is the PK. Lab and server stay off the map</a:t>
            </a:r>
            <a:endParaRPr lang="en-US" sz="2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600" y="2002536"/>
          <a:ext cx="1097280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2377440"/>
                <a:gridCol w="548640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Column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Type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Role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loesort_sorter_id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VARCHAR2(64)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Primary key; unique sorter identifier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loesort_hosp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VARCHAR2(8)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Hospital when the request omits it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loesort_usercode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VARCHAR2(12)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Dedicated sorter LIS user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loesort_workbench_id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VARCHAR2(8)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Workbench, loaded with the order's lab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09600" y="2002536"/>
            <a:ext cx="10972800" cy="2286000"/>
          </a:xfrm>
          <a:prstGeom prst="roundRect">
            <a:avLst>
              <a:gd name="adj" fmla="val 4800"/>
            </a:avLst>
          </a:prstGeom>
          <a:solidFill>
            <a:srgbClr val="FFFFFF">
              <a:alpha val="0"/>
            </a:srgbClr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09600" y="4562856"/>
            <a:ext cx="5335524" cy="1207008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83920" y="4800600"/>
            <a:ext cx="47868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One sorter, more than one lab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883920" y="5129784"/>
            <a:ext cx="47868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Lab comes from the retrieved order. Seed one workbench row per lab; a missing row is Failure (D12).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246876" y="4562856"/>
            <a:ext cx="5335524" cy="1207008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521196" y="4800600"/>
            <a:ext cx="47868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 server column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6521196" y="5129784"/>
            <a:ext cx="47868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ServiceParameterVo.serverName comes from HospitalService / LisLabServer, not loesort_server_name (D14).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04C. STATUS AND AUDIT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Only REGISTERED prints, and only after the response</a:t>
            </a:r>
            <a:endParaRPr lang="en-US" sz="2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600" y="2743200"/>
          <a:ext cx="1097280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3566160"/>
                <a:gridCol w="3566160"/>
                <a:gridCol w="192024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Status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Writes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Worksheet and PHLC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Sorter bin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15803D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REGISTERED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Lab request, SORT_REG and REG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All worksheets, then PHLC, after return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In-house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SEND_OUT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Send-out, tracking, SORT_SO and SEND_OUT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None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Send-out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B4530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RELABEL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SORT_RELABEL only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None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Staff Spec Ack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FAILURE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SORT_FAIL with message code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None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Staff Spec Ack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09600" y="2743200"/>
            <a:ext cx="10972800" cy="2286000"/>
          </a:xfrm>
          <a:prstGeom prst="roundRect">
            <a:avLst>
              <a:gd name="adj" fmla="val 4800"/>
            </a:avLst>
          </a:prstGeom>
          <a:solidFill>
            <a:srgbClr val="FFFFFF">
              <a:alpha val="0"/>
            </a:srgbClr>
          </a:solidFill>
          <a:ln w="9525">
            <a:solidFill>
              <a:srgbClr val="E2E8F0"/>
            </a:solidFill>
            <a:prstDash val="solid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05. NON-FUNCTIONAL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One synchronous call per tube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3051810"/>
            <a:ext cx="3505200" cy="1668780"/>
          </a:xfrm>
          <a:prstGeom prst="roundRect">
            <a:avLst>
              <a:gd name="adj" fmla="val 657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01040" y="3362706"/>
            <a:ext cx="332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9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&lt; 4 s</a:t>
            </a:r>
            <a:endParaRPr lang="en-US" sz="3900" dirty="0"/>
          </a:p>
        </p:txBody>
      </p:sp>
      <p:sp>
        <p:nvSpPr>
          <p:cNvPr id="6" name="Text 4"/>
          <p:cNvSpPr/>
          <p:nvPr/>
        </p:nvSpPr>
        <p:spPr>
          <a:xfrm>
            <a:off x="792480" y="3938778"/>
            <a:ext cx="313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p95 response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92480" y="4194810"/>
            <a:ext cx="31394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Through audit commit, print excluded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343400" y="3051810"/>
            <a:ext cx="3505200" cy="1668780"/>
          </a:xfrm>
          <a:prstGeom prst="roundRect">
            <a:avLst>
              <a:gd name="adj" fmla="val 657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434840" y="3362706"/>
            <a:ext cx="332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9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~20/min</a:t>
            </a:r>
            <a:endParaRPr lang="en-US" sz="3900" dirty="0"/>
          </a:p>
        </p:txBody>
      </p:sp>
      <p:sp>
        <p:nvSpPr>
          <p:cNvPr id="10" name="Text 8"/>
          <p:cNvSpPr/>
          <p:nvPr/>
        </p:nvSpPr>
        <p:spPr>
          <a:xfrm>
            <a:off x="4526280" y="3938778"/>
            <a:ext cx="313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 lab in v1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26280" y="4194810"/>
            <a:ext cx="31394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call per tube, sync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8077200" y="3051810"/>
            <a:ext cx="3505200" cy="1668780"/>
          </a:xfrm>
          <a:prstGeom prst="roundRect">
            <a:avLst>
              <a:gd name="adj" fmla="val 657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168640" y="3362706"/>
            <a:ext cx="332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9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CPS, HMS</a:t>
            </a:r>
            <a:endParaRPr lang="en-US" sz="3900" dirty="0"/>
          </a:p>
        </p:txBody>
      </p:sp>
      <p:sp>
        <p:nvSpPr>
          <p:cNvPr id="14" name="Text 12"/>
          <p:cNvSpPr/>
          <p:nvPr/>
        </p:nvSpPr>
        <p:spPr>
          <a:xfrm>
            <a:off x="8260080" y="3938778"/>
            <a:ext cx="313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Labs on the order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260080" y="4194810"/>
            <a:ext cx="31394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APS, BBS and MBS return Failure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06. PROMOTION AND FALLBACK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Seed the map, open the gateway path, pilot CPS and HMS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372011"/>
            <a:ext cx="5335524" cy="3028378"/>
          </a:xfrm>
          <a:prstGeom prst="roundRect">
            <a:avLst>
              <a:gd name="adj" fmla="val 362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5" name="Image 0" descr="D:\Github\HA-Notes\LIS\skills\design-review-pptx\assets\icons\png\success\cloud-arrow-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3920" y="2678335"/>
            <a:ext cx="265176" cy="26517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49680" y="2664619"/>
            <a:ext cx="44211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Promotion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883920" y="3094387"/>
            <a:ext cx="228600" cy="228600"/>
          </a:xfrm>
          <a:prstGeom prst="ellipse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975" dirty="0"/>
          </a:p>
        </p:txBody>
      </p:sp>
      <p:sp>
        <p:nvSpPr>
          <p:cNvPr id="8" name="Text 5"/>
          <p:cNvSpPr/>
          <p:nvPr/>
        </p:nvSpPr>
        <p:spPr>
          <a:xfrm>
            <a:off x="1222248" y="3121819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Create the sorter LIS user.</a:t>
            </a:r>
            <a:endParaRPr lang="en-US" sz="1125" dirty="0"/>
          </a:p>
        </p:txBody>
      </p:sp>
      <p:sp>
        <p:nvSpPr>
          <p:cNvPr id="9" name="Text 6"/>
          <p:cNvSpPr/>
          <p:nvPr/>
        </p:nvSpPr>
        <p:spPr>
          <a:xfrm>
            <a:off x="883920" y="3428429"/>
            <a:ext cx="228600" cy="228600"/>
          </a:xfrm>
          <a:prstGeom prst="ellipse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975" dirty="0"/>
          </a:p>
        </p:txBody>
      </p:sp>
      <p:sp>
        <p:nvSpPr>
          <p:cNvPr id="10" name="Text 7"/>
          <p:cNvSpPr/>
          <p:nvPr/>
        </p:nvSpPr>
        <p:spPr>
          <a:xfrm>
            <a:off x="1222248" y="3455861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Seed a workbench row per lab.</a:t>
            </a:r>
            <a:endParaRPr lang="en-US" sz="1125" dirty="0"/>
          </a:p>
        </p:txBody>
      </p:sp>
      <p:sp>
        <p:nvSpPr>
          <p:cNvPr id="11" name="Text 8"/>
          <p:cNvSpPr/>
          <p:nvPr/>
        </p:nvSpPr>
        <p:spPr>
          <a:xfrm>
            <a:off x="883920" y="3762470"/>
            <a:ext cx="228600" cy="228600"/>
          </a:xfrm>
          <a:prstGeom prst="ellipse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75" dirty="0"/>
          </a:p>
        </p:txBody>
      </p:sp>
      <p:sp>
        <p:nvSpPr>
          <p:cNvPr id="12" name="Text 9"/>
          <p:cNvSpPr/>
          <p:nvPr/>
        </p:nvSpPr>
        <p:spPr>
          <a:xfrm>
            <a:off x="1222248" y="3789902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Insert the map row: PK sorter id, no lab, no server name.</a:t>
            </a:r>
            <a:endParaRPr lang="en-US" sz="1125" dirty="0"/>
          </a:p>
        </p:txBody>
      </p:sp>
      <p:sp>
        <p:nvSpPr>
          <p:cNvPr id="13" name="Text 10"/>
          <p:cNvSpPr/>
          <p:nvPr/>
        </p:nvSpPr>
        <p:spPr>
          <a:xfrm>
            <a:off x="883920" y="4096512"/>
            <a:ext cx="228600" cy="228600"/>
          </a:xfrm>
          <a:prstGeom prst="ellipse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75" dirty="0"/>
          </a:p>
        </p:txBody>
      </p:sp>
      <p:sp>
        <p:nvSpPr>
          <p:cNvPr id="14" name="Text 11"/>
          <p:cNvSpPr/>
          <p:nvPr/>
        </p:nvSpPr>
        <p:spPr>
          <a:xfrm>
            <a:off x="1222248" y="4123944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Deploy lis-crs-spec-ack-svc.</a:t>
            </a:r>
            <a:endParaRPr lang="en-US" sz="1125" dirty="0"/>
          </a:p>
        </p:txBody>
      </p:sp>
      <p:sp>
        <p:nvSpPr>
          <p:cNvPr id="15" name="Text 12"/>
          <p:cNvSpPr/>
          <p:nvPr/>
        </p:nvSpPr>
        <p:spPr>
          <a:xfrm>
            <a:off x="883920" y="4430554"/>
            <a:ext cx="228600" cy="228600"/>
          </a:xfrm>
          <a:prstGeom prst="ellipse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75" dirty="0"/>
          </a:p>
        </p:txBody>
      </p:sp>
      <p:sp>
        <p:nvSpPr>
          <p:cNvPr id="16" name="Text 13"/>
          <p:cNvSpPr/>
          <p:nvPr/>
        </p:nvSpPr>
        <p:spPr>
          <a:xfrm>
            <a:off x="1222248" y="4457986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Publish the APIM product and NetworkPolicy.</a:t>
            </a:r>
            <a:endParaRPr lang="en-US" sz="1125" dirty="0"/>
          </a:p>
        </p:txBody>
      </p:sp>
      <p:sp>
        <p:nvSpPr>
          <p:cNvPr id="17" name="Text 14"/>
          <p:cNvSpPr/>
          <p:nvPr/>
        </p:nvSpPr>
        <p:spPr>
          <a:xfrm>
            <a:off x="883920" y="4764595"/>
            <a:ext cx="228600" cy="228600"/>
          </a:xfrm>
          <a:prstGeom prst="ellipse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975" dirty="0"/>
          </a:p>
        </p:txBody>
      </p:sp>
      <p:sp>
        <p:nvSpPr>
          <p:cNvPr id="18" name="Text 15"/>
          <p:cNvSpPr/>
          <p:nvPr/>
        </p:nvSpPr>
        <p:spPr>
          <a:xfrm>
            <a:off x="1222248" y="4792028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Pilot CPS and HMS.</a:t>
            </a:r>
            <a:endParaRPr lang="en-US" sz="1125" dirty="0"/>
          </a:p>
        </p:txBody>
      </p:sp>
      <p:sp>
        <p:nvSpPr>
          <p:cNvPr id="19" name="Shape 16"/>
          <p:cNvSpPr/>
          <p:nvPr/>
        </p:nvSpPr>
        <p:spPr>
          <a:xfrm>
            <a:off x="6246876" y="2372011"/>
            <a:ext cx="5335524" cy="3028378"/>
          </a:xfrm>
          <a:prstGeom prst="roundRect">
            <a:avLst>
              <a:gd name="adj" fmla="val 362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20" name="Image 1" descr="D:\Github\HA-Notes\LIS\skills\design-review-pptx\assets\icons\png\danger\rotate-lef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1196" y="2678335"/>
            <a:ext cx="265176" cy="265176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6886956" y="2664619"/>
            <a:ext cx="44211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Fallback</a:t>
            </a:r>
            <a:endParaRPr lang="en-US" sz="1500" dirty="0"/>
          </a:p>
        </p:txBody>
      </p:sp>
      <p:sp>
        <p:nvSpPr>
          <p:cNvPr id="22" name="Text 18"/>
          <p:cNvSpPr/>
          <p:nvPr/>
        </p:nvSpPr>
        <p:spPr>
          <a:xfrm>
            <a:off x="6521196" y="3094387"/>
            <a:ext cx="228600" cy="228600"/>
          </a:xfrm>
          <a:prstGeom prst="ellipse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975" dirty="0"/>
          </a:p>
        </p:txBody>
      </p:sp>
      <p:sp>
        <p:nvSpPr>
          <p:cNvPr id="23" name="Text 19"/>
          <p:cNvSpPr/>
          <p:nvPr/>
        </p:nvSpPr>
        <p:spPr>
          <a:xfrm>
            <a:off x="6859524" y="3121819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Stop the middleware. Staff Spec Ack is unchanged.</a:t>
            </a:r>
            <a:endParaRPr lang="en-US" sz="1125" dirty="0"/>
          </a:p>
        </p:txBody>
      </p:sp>
      <p:sp>
        <p:nvSpPr>
          <p:cNvPr id="24" name="Text 20"/>
          <p:cNvSpPr/>
          <p:nvPr/>
        </p:nvSpPr>
        <p:spPr>
          <a:xfrm>
            <a:off x="6521196" y="3428429"/>
            <a:ext cx="228600" cy="228600"/>
          </a:xfrm>
          <a:prstGeom prst="ellipse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975" dirty="0"/>
          </a:p>
        </p:txBody>
      </p:sp>
      <p:sp>
        <p:nvSpPr>
          <p:cNvPr id="25" name="Text 21"/>
          <p:cNvSpPr/>
          <p:nvPr/>
        </p:nvSpPr>
        <p:spPr>
          <a:xfrm>
            <a:off x="6859524" y="3455861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Drop loe_specimen_sorter_map on full rollback.</a:t>
            </a:r>
            <a:endParaRPr lang="en-US" sz="1125" dirty="0"/>
          </a:p>
        </p:txBody>
      </p:sp>
      <p:sp>
        <p:nvSpPr>
          <p:cNvPr id="26" name="Text 22"/>
          <p:cNvSpPr/>
          <p:nvPr/>
        </p:nvSpPr>
        <p:spPr>
          <a:xfrm>
            <a:off x="6521196" y="3762470"/>
            <a:ext cx="228600" cy="228600"/>
          </a:xfrm>
          <a:prstGeom prst="ellipse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75" dirty="0"/>
          </a:p>
        </p:txBody>
      </p:sp>
      <p:sp>
        <p:nvSpPr>
          <p:cNvPr id="27" name="Text 23"/>
          <p:cNvSpPr/>
          <p:nvPr/>
        </p:nvSpPr>
        <p:spPr>
          <a:xfrm>
            <a:off x="6859524" y="3789902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conversion of historical requests.</a:t>
            </a:r>
            <a:endParaRPr lang="en-US" sz="1125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07. OPEN QUESTIONS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Three things to settle before SIT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561463"/>
            <a:ext cx="10972800" cy="797814"/>
          </a:xfrm>
          <a:prstGeom prst="roundRect">
            <a:avLst>
              <a:gd name="adj" fmla="val 1375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7344" y="2561463"/>
            <a:ext cx="502920" cy="797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341120" y="2744343"/>
            <a:ext cx="10003536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Does in-process retrieveGcrOrder need the lab before the USID lookup?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1341120" y="3004947"/>
            <a:ext cx="1000353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D13. If yes, fix the retrieve, not the map. Do not put lab or server name on the map.</a:t>
            </a:r>
            <a:endParaRPr lang="en-US" sz="1125" dirty="0"/>
          </a:p>
        </p:txBody>
      </p:sp>
      <p:sp>
        <p:nvSpPr>
          <p:cNvPr id="8" name="Shape 6"/>
          <p:cNvSpPr/>
          <p:nvPr/>
        </p:nvSpPr>
        <p:spPr>
          <a:xfrm>
            <a:off x="609600" y="3487293"/>
            <a:ext cx="10972800" cy="797814"/>
          </a:xfrm>
          <a:prstGeom prst="roundRect">
            <a:avLst>
              <a:gd name="adj" fmla="val 1375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47344" y="3487293"/>
            <a:ext cx="502920" cy="797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02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341120" y="3670173"/>
            <a:ext cx="10003536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 creates the Change Request key?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1341120" y="3930777"/>
            <a:ext cx="1000353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SIT evidence has no ticket yet.</a:t>
            </a:r>
            <a:endParaRPr lang="en-US" sz="1125" dirty="0"/>
          </a:p>
        </p:txBody>
      </p:sp>
      <p:sp>
        <p:nvSpPr>
          <p:cNvPr id="12" name="Shape 10"/>
          <p:cNvSpPr/>
          <p:nvPr/>
        </p:nvSpPr>
        <p:spPr>
          <a:xfrm>
            <a:off x="609600" y="4413123"/>
            <a:ext cx="10972800" cy="797814"/>
          </a:xfrm>
          <a:prstGeom prst="roundRect">
            <a:avLst>
              <a:gd name="adj" fmla="val 1375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47344" y="4413123"/>
            <a:ext cx="502920" cy="797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341120" y="4596003"/>
            <a:ext cx="10003536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Which 2027 promotion window do we file under?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1341120" y="4856607"/>
            <a:ext cx="1000353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Target 30 May 2027. June and July 2027 are past the published calendar.</a:t>
            </a:r>
            <a:endParaRPr lang="en-US" sz="1125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90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237232" y="3014282"/>
            <a:ext cx="7717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spc="150" kern="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DISCUSSION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2237232" y="3361754"/>
            <a:ext cx="7717536" cy="4819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33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Q&amp;A</a:t>
            </a:r>
            <a:endParaRPr lang="en-US" sz="3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90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867400" y="1523143"/>
            <a:ext cx="457200" cy="457200"/>
          </a:xfrm>
          <a:prstGeom prst="ellipse">
            <a:avLst/>
          </a:prstGeom>
          <a:solidFill>
            <a:srgbClr val="082F49"/>
          </a:solidFill>
          <a:ln w="12700">
            <a:solidFill>
              <a:srgbClr val="082F49"/>
            </a:solidFill>
            <a:prstDash val="solid"/>
          </a:ln>
        </p:spPr>
      </p:sp>
      <p:pic>
        <p:nvPicPr>
          <p:cNvPr id="3" name="Image 0" descr="D:\Github\HA-Notes\LIS\skills\design-review-pptx\assets\icons\png\onDark\rock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1700" y="1637443"/>
            <a:ext cx="228600" cy="2286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752600" y="2172367"/>
            <a:ext cx="8686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spc="150" kern="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NEXT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1752600" y="2501551"/>
            <a:ext cx="8686800" cy="4819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33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Target completion</a:t>
            </a:r>
            <a:endParaRPr lang="en-US" sz="3300" dirty="0"/>
          </a:p>
        </p:txBody>
      </p:sp>
      <p:sp>
        <p:nvSpPr>
          <p:cNvPr id="6" name="Text 3"/>
          <p:cNvSpPr/>
          <p:nvPr/>
        </p:nvSpPr>
        <p:spPr>
          <a:xfrm>
            <a:off x="1752600" y="3093244"/>
            <a:ext cx="86868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90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30 MAY 2027</a:t>
            </a:r>
            <a:endParaRPr lang="en-US" sz="3900" dirty="0"/>
          </a:p>
        </p:txBody>
      </p:sp>
      <p:sp>
        <p:nvSpPr>
          <p:cNvPr id="7" name="Text 4"/>
          <p:cNvSpPr/>
          <p:nvPr/>
        </p:nvSpPr>
        <p:spPr>
          <a:xfrm>
            <a:off x="2406396" y="3867817"/>
            <a:ext cx="7379208" cy="2143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Development runs to 31 Dec 2026. Integration test starts January 2027.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838200" y="4466177"/>
            <a:ext cx="31638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CHANGE REQUEST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838200" y="4685633"/>
            <a:ext cx="31638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Create the key by hand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258056" y="4466177"/>
            <a:ext cx="10973" cy="56692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14088" y="4466177"/>
            <a:ext cx="31638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WP1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4514088" y="4685633"/>
            <a:ext cx="31638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Close D13 in the retrieve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7933944" y="4466177"/>
            <a:ext cx="10973" cy="56692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189976" y="4466177"/>
            <a:ext cx="31638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SIT SEED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8189976" y="4685633"/>
            <a:ext cx="31638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Sorter user, workbench, map row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758952" y="6089904"/>
            <a:ext cx="10674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TMP-000   </a:t>
            </a:r>
            <a:pPr algn="ctr" indent="0" marL="0">
              <a:lnSpc>
                <a:spcPct val="120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lis-crs-spec-ack-svc  ·  Specimen Sorter API  ·  ref SEM20260612</a:t>
            </a:r>
            <a:endParaRPr lang="en-US" sz="1125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Hospital Authority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Specimen Sorter API</dc:title>
  <dc:subject>lis-crs-spec-ack-svc - one POST to send out or register a tube by USID</dc:subject>
  <dc:creator>Ka</dc:creator>
  <cp:lastModifiedBy>Ka</cp:lastModifiedBy>
  <cp:revision>1</cp:revision>
  <dcterms:created xsi:type="dcterms:W3CDTF">2026-09-21T07:42:22Z</dcterms:created>
  <dcterms:modified xsi:type="dcterms:W3CDTF">2026-09-21T07:42:22Z</dcterms:modified>
</cp:coreProperties>
</file>